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f863d2a2df4e1a" /><Relationship Type="http://schemas.openxmlformats.org/officeDocument/2006/relationships/extended-properties" Target="/docProps/app.xml" Id="R7f922aeef9a1498a" /><Relationship Type="http://schemas.openxmlformats.org/officeDocument/2006/relationships/officeDocument" Target="/ppt/presentation.xml" Id="R07473211758c40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63194cddeb4a52"/>
  </p:sldMasterIdLst>
  <p:notesMasterIdLst>
    <p:notesMasterId xmlns:r="http://schemas.openxmlformats.org/officeDocument/2006/relationships" r:id="R9a330a87f51048a2"/>
  </p:notesMasterIdLst>
  <p:sldIdLst>
    <p:sldId xmlns:r="http://schemas.openxmlformats.org/officeDocument/2006/relationships" id="256" r:id="Reade7ac1084749ac"/>
    <p:sldId xmlns:r="http://schemas.openxmlformats.org/officeDocument/2006/relationships" id="257" r:id="R3f32af7045f64c92"/>
    <p:sldId xmlns:r="http://schemas.openxmlformats.org/officeDocument/2006/relationships" id="258" r:id="R4627fd539e3e460a"/>
    <p:sldId xmlns:r="http://schemas.openxmlformats.org/officeDocument/2006/relationships" id="259" r:id="R15845a09732842ad"/>
    <p:sldId xmlns:r="http://schemas.openxmlformats.org/officeDocument/2006/relationships" id="260" r:id="Re6aff93dde9241ee"/>
    <p:sldId xmlns:r="http://schemas.openxmlformats.org/officeDocument/2006/relationships" id="261" r:id="Rf51ddc5bd9534646"/>
    <p:sldId xmlns:r="http://schemas.openxmlformats.org/officeDocument/2006/relationships" id="262" r:id="R0fac03b335534e4b"/>
    <p:sldId xmlns:r="http://schemas.openxmlformats.org/officeDocument/2006/relationships" id="263" r:id="R74e51d9a428d47d0"/>
    <p:sldId xmlns:r="http://schemas.openxmlformats.org/officeDocument/2006/relationships" id="264" r:id="R65ccbb8006c94449"/>
    <p:sldId xmlns:r="http://schemas.openxmlformats.org/officeDocument/2006/relationships" id="265" r:id="R2abedfdba3074875"/>
    <p:sldId xmlns:r="http://schemas.openxmlformats.org/officeDocument/2006/relationships" id="266" r:id="R40715e97557a48e4"/>
    <p:sldId xmlns:r="http://schemas.openxmlformats.org/officeDocument/2006/relationships" id="267" r:id="Rb787e208437a4df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3d9acab7d1481d" /><Relationship Type="http://schemas.openxmlformats.org/officeDocument/2006/relationships/slideMaster" Target="/ppt/slideMasters/slideMaster1.xml" Id="R6f63194cddeb4a52" /><Relationship Type="http://schemas.openxmlformats.org/officeDocument/2006/relationships/notesMaster" Target="/ppt/notesMasters/notesMaster1.xml" Id="R9a330a87f51048a2" /><Relationship Type="http://schemas.openxmlformats.org/officeDocument/2006/relationships/presProps" Target="/ppt/presProps.xml" Id="Rb053791208b943c6" /><Relationship Type="http://schemas.openxmlformats.org/officeDocument/2006/relationships/tableStyles" Target="/ppt/tableStyles.xml" Id="R13283c50d00f4cd9" /><Relationship Type="http://schemas.openxmlformats.org/officeDocument/2006/relationships/slide" Target="/ppt/slides/slide1.xml" Id="Reade7ac1084749ac" /><Relationship Type="http://schemas.openxmlformats.org/officeDocument/2006/relationships/slide" Target="/ppt/slides/slide2.xml" Id="R3f32af7045f64c92" /><Relationship Type="http://schemas.openxmlformats.org/officeDocument/2006/relationships/slide" Target="/ppt/slides/slide3.xml" Id="R4627fd539e3e460a" /><Relationship Type="http://schemas.openxmlformats.org/officeDocument/2006/relationships/slide" Target="/ppt/slides/slide4.xml" Id="R15845a09732842ad" /><Relationship Type="http://schemas.openxmlformats.org/officeDocument/2006/relationships/slide" Target="/ppt/slides/slide5.xml" Id="Re6aff93dde9241ee" /><Relationship Type="http://schemas.openxmlformats.org/officeDocument/2006/relationships/slide" Target="/ppt/slides/slide6.xml" Id="Rf51ddc5bd9534646" /><Relationship Type="http://schemas.openxmlformats.org/officeDocument/2006/relationships/slide" Target="/ppt/slides/slide7.xml" Id="R0fac03b335534e4b" /><Relationship Type="http://schemas.openxmlformats.org/officeDocument/2006/relationships/slide" Target="/ppt/slides/slide8.xml" Id="R74e51d9a428d47d0" /><Relationship Type="http://schemas.openxmlformats.org/officeDocument/2006/relationships/slide" Target="/ppt/slides/slide9.xml" Id="R65ccbb8006c94449" /><Relationship Type="http://schemas.openxmlformats.org/officeDocument/2006/relationships/slide" Target="/ppt/slides/slide10.xml" Id="R2abedfdba3074875" /><Relationship Type="http://schemas.openxmlformats.org/officeDocument/2006/relationships/slide" Target="/ppt/slides/slide11.xml" Id="R40715e97557a48e4" /><Relationship Type="http://schemas.openxmlformats.org/officeDocument/2006/relationships/slide" Target="/ppt/slides/slide12.xml" Id="Rb787e208437a4d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98d0907ec040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db69be72c149fd" /><Relationship Type="http://schemas.openxmlformats.org/officeDocument/2006/relationships/notesMaster" Target="/ppt/notesMasters/notesMaster1.xml" Id="R1cdc2f41082540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4bc0dd98d048cb" /><Relationship Type="http://schemas.openxmlformats.org/officeDocument/2006/relationships/notesMaster" Target="/ppt/notesMasters/notesMaster1.xml" Id="Rd5e0e11fbea047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74d04aaabe4e16" /><Relationship Type="http://schemas.openxmlformats.org/officeDocument/2006/relationships/notesMaster" Target="/ppt/notesMasters/notesMaster1.xml" Id="Rf2789a7dc3bf465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cb336d78ca4b56" /><Relationship Type="http://schemas.openxmlformats.org/officeDocument/2006/relationships/notesMaster" Target="/ppt/notesMasters/notesMaster1.xml" Id="R50c6312a3569403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4ff0afa5ce74ca5" /><Relationship Type="http://schemas.openxmlformats.org/officeDocument/2006/relationships/notesMaster" Target="/ppt/notesMasters/notesMaster1.xml" Id="Rf70c49db284143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6de52ae3ac24acf" /><Relationship Type="http://schemas.openxmlformats.org/officeDocument/2006/relationships/notesMaster" Target="/ppt/notesMasters/notesMaster1.xml" Id="R634fb8db10754b8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41eadce457e4a22" /><Relationship Type="http://schemas.openxmlformats.org/officeDocument/2006/relationships/notesMaster" Target="/ppt/notesMasters/notesMaster1.xml" Id="R602ccfea0c2d40e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67fe33819d84da5" /><Relationship Type="http://schemas.openxmlformats.org/officeDocument/2006/relationships/notesMaster" Target="/ppt/notesMasters/notesMaster1.xml" Id="Re60e0e87ac794af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3d550c8812543bb" /><Relationship Type="http://schemas.openxmlformats.org/officeDocument/2006/relationships/notesMaster" Target="/ppt/notesMasters/notesMaster1.xml" Id="Rc142e24444904ef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ac5b7d52d6546b3" /><Relationship Type="http://schemas.openxmlformats.org/officeDocument/2006/relationships/notesMaster" Target="/ppt/notesMasters/notesMaster1.xml" Id="R25a179591fbd4ae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0dfe9e38a8348c8" /><Relationship Type="http://schemas.openxmlformats.org/officeDocument/2006/relationships/notesMaster" Target="/ppt/notesMasters/notesMaster1.xml" Id="R0b78b6f1415f437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4e84207abfe4eee" /><Relationship Type="http://schemas.openxmlformats.org/officeDocument/2006/relationships/notesMaster" Target="/ppt/notesMasters/notesMaster1.xml" Id="Re6fe91efa2aa43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本页先给出整套讲解的科学边界：V1 只在现有 Stage 2 条件生成分布上增加训练期右目重建分支。</a:t>
            </a:r>
          </a:p>
          <a:p xmlns:a="http://schemas.openxmlformats.org/drawingml/2006/main">
            <a:r>
              <a:t>该工作仍是设计稿，不是训练结果，也不是用户批准版本。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/Users/ruikegu/.codex/worktrees/5986/Cupid/outputs/figures/p02_cupid_same_time_right_recon_v03_candidate.png (v03 candidate; commit 4ff75c3).</a:t>
            </a:r>
          </a:p>
          <a:p xmlns:a="http://schemas.openxmlformats.org/drawingml/2006/main">
            <a:r>
              <a:t>- git show 1d3d9af:docs/CUPID_STEREO_INSERTION_SPEC_V1.md.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这页是完整母图，后续 Part 1–6 的局部图全部从同一 v03 candidate 对象复制而来。</a:t>
            </a:r>
          </a:p>
          <a:p xmlns:a="http://schemas.openxmlformats.org/drawingml/2006/main">
            <a:r>
              <a:t>V1 的唯一新增变量是 right reconstruction branch；没有新增 learned relation head、right-image encoder 或 pose/depth head。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/Users/ruikegu/.codex/worktrees/5986/Cupid/outputs/figures/p02_cupid_same_time_right_recon_v03_candidate.png (v03 candidate; commit 4ff75c3).</a:t>
            </a:r>
          </a:p>
          <a:p xmlns:a="http://schemas.openxmlformats.org/drawingml/2006/main">
            <a:r>
              <a:t>- git show 1d3d9af:docs/CUPID_STEREO_INSERTION_SPEC_V1.md, sections 1–2.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六个架构模块是为了逐页讲清输入、输出、已知量、未知量、监督和梯度边界。</a:t>
            </a:r>
          </a:p>
          <a:p xmlns:a="http://schemas.openxmlformats.org/drawingml/2006/main">
            <a:r>
              <a:t>五个工作包是实现层面的最小增量，均属于同一 right-view reconstruction branch。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 show 1d3d9af:docs/CUPID_STEREO_INSERTION_SPEC_V1.md, sections 2, 5, 9.</a:t>
            </a:r>
          </a:p>
          <a:p xmlns:a="http://schemas.openxmlformats.org/drawingml/2006/main">
            <a:r>
              <a:t>- /Users/ruikegu/.codex/worktrees/5986/Cupid/outputs/figures/p02_cupid_same_time_right_recon_v03_candidate.png and six derived part crops (commit 4ff75c3).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本页对应 V1 source contract。右图是 same-time target，不是第二个 conditioning image。</a:t>
            </a:r>
          </a:p>
          <a:p xmlns:a="http://schemas.openxmlformats.org/drawingml/2006/main">
            <a:r>
              <a:t>Known：same object/time、left/right ordering、有限相机矩阵、T_R&lt;-L、K_R、alpha_R、validity mask。Unknown：Stage 2 生成的 structured latent 是否能解释右目。</a:t>
            </a:r>
          </a:p>
          <a:p xmlns:a="http://schemas.openxmlformats.org/drawingml/2006/main">
            <a:r>
              <a:t>Self-supervision：同步观测本身提供 target；没有人工 pose/depth label。</a:t>
            </a:r>
          </a:p>
          <a:p xmlns:a="http://schemas.openxmlformats.org/drawingml/2006/main">
            <a:r>
              <a:t>代码锚点：cupid/datasets/components.py:341 当前训练随机选单视角；cupid/datasets/structured_latent.py:234 当前仅计算单 view UV。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 show 1d3d9af:docs/CUPID_STEREO_INSERTION_SPEC_V1.md, sections 3 and 5.</a:t>
            </a:r>
          </a:p>
          <a:p xmlns:a="http://schemas.openxmlformats.org/drawingml/2006/main">
            <a:r>
              <a:t>- /Users/ruikegu/.codex/worktrees/5986/Cupid/outputs/figures/cupid_v1_explainer_parts/cupid_v1_part01_inputs_and_supervision_v01_candidate.png derived from /Users/ruikegu/.codex/worktrees/5986/Cupid/outputs/figures/p02_cupid_same_time_right_recon_v03_candidate.png.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V1 的科学对象不是 Stage 1 camera prediction path，而是 Stage 2 generation distribution。</a:t>
            </a:r>
          </a:p>
          <a:p xmlns:a="http://schemas.openxmlformats.org/drawingml/2006/main">
            <a:r>
              <a:t>Stage 1 输出 sparse structure/UV 与左目 pose-aligned conditioning；这些量作为已知条件进入 Stage 2。</a:t>
            </a:r>
          </a:p>
          <a:p xmlns:a="http://schemas.openxmlformats.org/drawingml/2006/main">
            <a:r>
              <a:t>右图不进入 DINOv2、Stage 1 或 CFG conditioning。</a:t>
            </a:r>
          </a:p>
          <a:p xmlns:a="http://schemas.openxmlformats.org/drawingml/2006/main">
            <a:r>
              <a:t>代码锚点：cupid/pipelines/pipeline.py:305、:312、:217。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 show 1d3d9af:docs/CUPID_STEREO_INSERTION_SPEC_V1.md, sections 2 and 7.</a:t>
            </a:r>
          </a:p>
          <a:p xmlns:a="http://schemas.openxmlformats.org/drawingml/2006/main">
            <a:r>
              <a:t>- /Users/ruikegu/.codex/worktrees/5986/Cupid/outputs/figures/cupid_v1_explainer_parts/cupid_v1_part02_stage1_structure_and_pose_v01_candidate.png derived from /Users/ruikegu/.codex/worktrees/5986/Cupid/outputs/figures/p02_cupid_same_time_right_recon_v03_candidate.png.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2 trainer 构造 noise、t、x_t，denoiser 输出 v_hat，原始训练目标是 velocity MSE。</a:t>
            </a:r>
          </a:p>
          <a:p xmlns:a="http://schemas.openxmlformats.org/drawingml/2006/main">
            <a:r>
              <a:t>V1 将 right reconstruction 加在同一个 terms[loss] 上；唯一可学习参数是现有 Stage 2 flow/denoiser。</a:t>
            </a:r>
          </a:p>
          <a:p xmlns:a="http://schemas.openxmlformats.org/drawingml/2006/main">
            <a:r>
              <a:t>CFG conditioned mask 是 routing metadata：被 drop condition 的样本不能被要求重建某个特定右图。当前 mixin 不返回 mask，是实现缺口。</a:t>
            </a:r>
          </a:p>
          <a:p xmlns:a="http://schemas.openxmlformats.org/drawingml/2006/main">
            <a:r>
              <a:t>代码锚点：cupid/trainers/flow_matching/sparse_flow_matching.py:95–104；cupid/trainers/flow_matching/mixins/classifier_free_guidance.py:40。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 show 1d3d9af:docs/CUPID_STEREO_INSERTION_SPEC_V1.md, sections 3, 5 and 6.</a:t>
            </a:r>
          </a:p>
          <a:p xmlns:a="http://schemas.openxmlformats.org/drawingml/2006/main">
            <a:r>
              <a:t>- /Users/ruikegu/.codex/worktrees/5986/Cupid/outputs/figures/cupid_v1_explainer_parts/cupid_v1_part03_stage2_generation_v01_candidate.png derived from /Users/ruikegu/.codex/worktrees/5986/Cupid/outputs/figures/p02_cupid_same_time_right_recon_v03_candidate.png.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V1 不把完整 50-step sampler 放进训练，因为现有 sampler 和 pipeline 都是 @torch.no_grad()。</a:t>
            </a:r>
          </a:p>
          <a:p xmlns:a="http://schemas.openxmlformats.org/drawingml/2006/main">
            <a:r>
              <a:t>训练内直接使用已有的 v→x0 代数公式，随后做 normalization inverse。</a:t>
            </a:r>
          </a:p>
          <a:p xmlns:a="http://schemas.openxmlformats.org/drawingml/2006/main">
            <a:r>
              <a:t>Gaussian decoder 参数 requires_grad=False，但不能将 decoder forward 放入 torch.no_grad()，否则 right loss 无法回到 Stage 2。</a:t>
            </a:r>
          </a:p>
          <a:p xmlns:a="http://schemas.openxmlformats.org/drawingml/2006/main">
            <a:r>
              <a:t>代码锚点：cupid/pipelines/samplers/flow_euler.py:31；cupid/pipelines/samplers/flow_euler.py:66；cupid/pipelines/pipeline.py:266；cupid/models/structured_latent_vae/decoder_gs.py:118。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 show 1d3d9af:docs/CUPID_STEREO_INSERTION_SPEC_V1.md, sections 5 and 7.</a:t>
            </a:r>
          </a:p>
          <a:p xmlns:a="http://schemas.openxmlformats.org/drawingml/2006/main">
            <a:r>
              <a:t>- /Users/ruikegu/.codex/worktrees/5986/Cupid/outputs/figures/cupid_v1_explainer_parts/cupid_v1_part04_clean_latent_and_frozen_decode_v01_candidate.png derived from /Users/ruikegu/.codex/worktrees/5986/Cupid/outputs/figures/p02_cupid_same_time_right_recon_v03_candidate.png.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相机约定：E_L/E_R 是 world-to-camera；E_R = T_R&lt;-L E_L。T_R&lt;-L 是已标定的 fixed rig metadata。</a:t>
            </a:r>
          </a:p>
          <a:p xmlns:a="http://schemas.openxmlformats.org/drawingml/2006/main">
            <a:r>
              <a:t>若左右图经过 crop/resize，K_L/K_R 必须确定性更新；不能用无法回放的独立随机几何增强。</a:t>
            </a:r>
          </a:p>
          <a:p xmlns:a="http://schemas.openxmlformats.org/drawingml/2006/main">
            <a:r>
              <a:t>renderer 没有学习参数，但 rasterizer 必须对 Gaussian position、opacity、scale、rotation、appearance 等输入保留 backward。</a:t>
            </a:r>
          </a:p>
          <a:p xmlns:a="http://schemas.openxmlformats.org/drawingml/2006/main">
            <a:r>
              <a:t>代码锚点：cupid/renderers/gaussian_render.py:169；:60。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 show 1d3d9af:docs/CUPID_STEREO_INSERTION_SPEC_V1.md, sections 4 and 7.</a:t>
            </a:r>
          </a:p>
          <a:p xmlns:a="http://schemas.openxmlformats.org/drawingml/2006/main">
            <a:r>
              <a:t>- /Users/ruikegu/.codex/worktrees/5986/Cupid/outputs/figures/cupid_v1_explainer_parts/cupid_v1_part05_fixed_camera_render_v01_candidate.png derived from /Users/ruikegu/.codex/worktrees/5986/Cupid/outputs/figures/p02_cupid_same_time_right_recon_v03_candidate.png.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V1 的 image loss 复用 CUPID VAE 已有 alpha/background compositing 与 L1/LPIPS primitive，不增加 SSIM。</a:t>
            </a:r>
          </a:p>
          <a:p xmlns:a="http://schemas.openxmlformats.org/drawingml/2006/main">
            <a:r>
              <a:t>valid sample mask = stereo_valid AND cfg_conditioned；被 CFG dropout 的样本不计算特定右图监督。</a:t>
            </a:r>
          </a:p>
          <a:p xmlns:a="http://schemas.openxmlformats.org/drawingml/2006/main">
            <a:r>
              <a:t>LPIPS/VGG 参数 requires_grad=False，但 forward 不能 no_grad，否则会切断对 I_R_hat 的梯度。</a:t>
            </a:r>
          </a:p>
          <a:p xmlns:a="http://schemas.openxmlformats.org/drawingml/2006/main">
            <a:r>
              <a:t>代码锚点：cupid/trainers/vae/structured_latent_vae_gaussian.py:169–172；cupid/trainers/basic.py:442。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 show 1d3d9af:docs/CUPID_STEREO_INSERTION_SPEC_V1.md, sections 6 and 7.</a:t>
            </a:r>
          </a:p>
          <a:p xmlns:a="http://schemas.openxmlformats.org/drawingml/2006/main">
            <a:r>
              <a:t>- /Users/ruikegu/.codex/worktrees/5986/Cupid/outputs/figures/cupid_v1_explainer_parts/cupid_v1_part06_loss_and_gradient_boundary_v01_candidate.png derived from /Users/ruikegu/.codex/worktrees/5986/Cupid/outputs/figures/p02_cupid_same_time_right_recon_v03_candidate.png.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目标分布的写法是 p_theta(z | left image, sparse structure, left pose)；right image 作为训练 target 约束该分布。</a:t>
            </a:r>
          </a:p>
          <a:p xmlns:a="http://schemas.openxmlformats.org/drawingml/2006/main">
            <a:r>
              <a:t>期望性质是 cross-view renderability：同一 structured latent 在固定 decoder 与已知右相机下能解释同步右图。</a:t>
            </a:r>
          </a:p>
          <a:p xmlns:a="http://schemas.openxmlformats.org/drawingml/2006/main">
            <a:r>
              <a:t>不能从该目标直接声称 metric scale、pose accuracy、真实 3D 或通用 representation 一定变好。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 show 1d3d9af:docs/CUPID_STEREO_INSERTION_SPEC_V1.md, sections 1, 6, 8 and 12.</a:t>
            </a:r>
          </a:p>
          <a:p xmlns:a="http://schemas.openxmlformats.org/drawingml/2006/main">
            <a:r>
              <a:t>- /Users/ruikegu/.codex/worktrees/5986/Cupid/outputs/figures/p02_cupid_same_time_right_recon_v03_candidate.png (v03 candidate; commit 4ff75c3).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V1 的 success 不是“右图能渲染出来”这么简单，而是右图指标优于 matched control 且所有 guards 通过。</a:t>
            </a:r>
          </a:p>
          <a:p xmlns:a="http://schemas.openxmlformats.org/drawingml/2006/main">
            <a:r>
              <a:t>neutral 也有信息：说明最小分支没有破坏原系统，但监督强度或可观测性不足。</a:t>
            </a:r>
          </a:p>
          <a:p xmlns:a="http://schemas.openxmlformats.org/drawingml/2006/main">
            <a:r>
              <a:t>hard failure 包括无梯度、NaN/Inf、空 valid batch、恒定 render、左右路由错误以及原指标回退。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 show 1d3d9af:docs/CUPID_STEREO_INSERTION_SPEC_V1.md, section 12.</a:t>
            </a:r>
          </a:p>
          <a:p xmlns:a="http://schemas.openxmlformats.org/drawingml/2006/main">
            <a:r>
              <a:t>- /Users/ruikegu/.codex/worktrees/5986/Cupid/outputs/figures/cupid_v1_explainer_parts/cupid_v1_part06_loss_and_gradient_boundary_v01_candidate.png and /Users/ruikegu/.codex/worktrees/5986/Cupid/outputs/figures/p02_cupid_same_time_right_recon_v03_candidate.png.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五个工作包目前都没有实现；现有代码只是提供可复用的 baseline 锚点。</a:t>
            </a:r>
          </a:p>
          <a:p xmlns:a="http://schemas.openxmlformats.org/drawingml/2006/main">
            <a:r>
              <a:t>优先级：先关闭 paired data contract 和 trainer autograd，再做 frozen consumer backward smoke，最后提交 matched cluster comparison。</a:t>
            </a:r>
          </a:p>
          <a:p xmlns:a="http://schemas.openxmlformats.org/drawingml/2006/main">
            <a:r>
              <a:t>不得在实现阶段引入 B=0.25m、feature consistency、历史四视图、relation head、stereo encoder 或 pose/depth supervision。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 show 1d3d9af:docs/CUPID_STEREO_INSERTION_SPEC_V1.md, sections 2, 9, 12.</a:t>
            </a:r>
          </a:p>
          <a:p xmlns:a="http://schemas.openxmlformats.org/drawingml/2006/main">
            <a:r>
              <a:t>- /Users/ruikegu/.codex/worktrees/5986/Cupid/outputs/figures/p02_cupid_same_time_right_recon_v03_candidate.png and six derived part crops.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e08e6f7370431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3bb3f75d1d46bd" /><Relationship Type="http://schemas.openxmlformats.org/officeDocument/2006/relationships/slideLayout" Target="/ppt/slideLayouts/slideLayout1.xml" Id="Rfc2f994df4b744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2f994df4b744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0d7e0f58514a3e" /><Relationship Type="http://schemas.openxmlformats.org/officeDocument/2006/relationships/image" Target="/ppt/media/image.png" Id="Re3b716cebd2c414b" /><Relationship Type="http://schemas.openxmlformats.org/officeDocument/2006/relationships/notesSlide" Target="/ppt/notesSlides/notesSlide1.xml" Id="R8d7ce5f2f14948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90d8e5dde841a2" /><Relationship Type="http://schemas.openxmlformats.org/officeDocument/2006/relationships/image" Target="/ppt/media/image2.png" Id="R67dfdd097c1d4d1a" /><Relationship Type="http://schemas.openxmlformats.org/officeDocument/2006/relationships/notesSlide" Target="/ppt/notesSlides/notesSlide2.xml" Id="R39600c31b19245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5e0f08ea20477e" /><Relationship Type="http://schemas.openxmlformats.org/officeDocument/2006/relationships/notesSlide" Target="/ppt/notesSlides/notesSlide3.xml" Id="R39bd234a0b7f4d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101170b9c94213" /><Relationship Type="http://schemas.openxmlformats.org/officeDocument/2006/relationships/image" Target="/ppt/media/image3.png" Id="R0a0f63504b6b40fe" /><Relationship Type="http://schemas.openxmlformats.org/officeDocument/2006/relationships/notesSlide" Target="/ppt/notesSlides/notesSlide4.xml" Id="Ra28779eee8864df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6f141980e148d3" /><Relationship Type="http://schemas.openxmlformats.org/officeDocument/2006/relationships/image" Target="/ppt/media/image4.png" Id="Rd2310b0b705047ab" /><Relationship Type="http://schemas.openxmlformats.org/officeDocument/2006/relationships/notesSlide" Target="/ppt/notesSlides/notesSlide5.xml" Id="R535e70e61441445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64ede71f4d4c0a" /><Relationship Type="http://schemas.openxmlformats.org/officeDocument/2006/relationships/image" Target="/ppt/media/image5.png" Id="Rc7a29c62034c4ade" /><Relationship Type="http://schemas.openxmlformats.org/officeDocument/2006/relationships/notesSlide" Target="/ppt/notesSlides/notesSlide6.xml" Id="Rf0048b8ca2c744b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4ccd4a6cbf4ee7" /><Relationship Type="http://schemas.openxmlformats.org/officeDocument/2006/relationships/image" Target="/ppt/media/image6.png" Id="R3f275b5a19164a61" /><Relationship Type="http://schemas.openxmlformats.org/officeDocument/2006/relationships/notesSlide" Target="/ppt/notesSlides/notesSlide7.xml" Id="R58d54fe24c8c4c3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4d6fbef5f14496" /><Relationship Type="http://schemas.openxmlformats.org/officeDocument/2006/relationships/image" Target="/ppt/media/image7.png" Id="R81ba55cb8151432b" /><Relationship Type="http://schemas.openxmlformats.org/officeDocument/2006/relationships/notesSlide" Target="/ppt/notesSlides/notesSlide8.xml" Id="Rdc8c524be8d143f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2096a322e04aee" /><Relationship Type="http://schemas.openxmlformats.org/officeDocument/2006/relationships/image" Target="/ppt/media/image8.png" Id="R8a8c4e0256154168" /><Relationship Type="http://schemas.openxmlformats.org/officeDocument/2006/relationships/notesSlide" Target="/ppt/notesSlides/notesSlide9.xml" Id="Rbd9cd1bc193f4b2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1cd73e944943ea" /><Relationship Type="http://schemas.openxmlformats.org/officeDocument/2006/relationships/notesSlide" Target="/ppt/notesSlides/notesSlide10.xml" Id="R4a4eccd97699414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49b995148846c6" /><Relationship Type="http://schemas.openxmlformats.org/officeDocument/2006/relationships/notesSlide" Target="/ppt/notesSlides/notesSlide11.xml" Id="R4c3fa68acb164fa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bda6478c144e4b" /><Relationship Type="http://schemas.openxmlformats.org/officeDocument/2006/relationships/notesSlide" Target="/ppt/notesSlides/notesSlide12.xml" Id="Rc7e6838a07a340a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E5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7979B4-3E87-4C49-9B20-AF0E50B0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BBD5E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BBD5E8"/>
                </a:solidFill>
                <a:latin typeface="Arial"/>
                <a:ea typeface="Arial"/>
                <a:cs typeface="Arial"/>
              </a:rPr>
              <a:t>CUPID V1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E2F383-41B2-49BF-9860-BBB2CC00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8096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我们到底在训练什么？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ED02CB-0527-413C-803F-71F50B26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D8E7F2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D8E7F2"/>
                </a:solidFill>
                <a:latin typeface="PingFang SC"/>
                <a:ea typeface="PingFang SC"/>
                <a:cs typeface="PingFang SC"/>
              </a:rPr>
              <a:t>把最新 v03 母图拆成可审阅的输入、梯度和验收合同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39DAFF-824C-45C3-B799-1FC95BBF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6858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27133F-196F-4ADC-A225-53249E16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813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17F78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117F78"/>
                </a:solidFill>
                <a:latin typeface="PingFang SC"/>
                <a:ea typeface="PingFang SC"/>
                <a:cs typeface="PingFang SC"/>
              </a:rPr>
              <a:t>核心结论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11DF33-DF62-42D4-AC2F-EA64CA75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0"/>
            <a:ext cx="623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2E5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02E50"/>
                </a:solidFill>
                <a:latin typeface="PingFang SC"/>
                <a:ea typeface="PingFang SC"/>
                <a:cs typeface="PingFang SC"/>
              </a:rPr>
              <a:t>右图只作为训练 target；唯一更新的是现有 Stage 2 denoiser。</a:t>
            </a:r>
          </a:p>
          <a:p xmlns:a="http://schemas.openxmlformats.org/drawingml/2006/main">
            <a:pPr algn="l">
              <a:defRPr sz="1350" b="1" i="0">
                <a:solidFill>
                  <a:srgbClr val="102E5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02E50"/>
                </a:solidFill>
                <a:latin typeface="PingFang SC"/>
                <a:ea typeface="PingFang SC"/>
                <a:cs typeface="PingFang SC"/>
              </a:rPr>
              <a:t>训练希望得到的是可在已知右相机下重建同步右图的 structured latent。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665B55-5CF7-40A3-826B-358C41D7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800100"/>
            <a:ext cx="3238500" cy="4762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73B63"/>
          </a:solidFill>
          <a:ln xmlns:a="http://schemas.openxmlformats.org/drawingml/2006/main" w="9525">
            <a:solidFill>
              <a:srgbClr val="4E7797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b716cebd2c414b"/>
          <a:stretch xmlns:a="http://schemas.openxmlformats.org/drawingml/2006/main"/>
        </p:blipFill>
        <p:spPr>
          <a:xfrm xmlns:a="http://schemas.openxmlformats.org/drawingml/2006/main">
            <a:off x="8458200" y="2165350"/>
            <a:ext cx="2819400" cy="18796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4E0F9E-85E5-4200-BE00-7F411971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62650"/>
            <a:ext cx="2857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17F78"/>
          </a:solidFill>
          <a:ln xmlns:a="http://schemas.openxmlformats.org/drawingml/2006/main" w="0">
            <a:solidFill>
              <a:srgbClr val="117F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ECFA97-C705-4F43-A544-66200569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81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DESIGN ONLY / S01 UNVERIFIED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8228BF-9746-4A0B-AB17-EF3DAD2A1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24600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BBD5E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BBD5E8"/>
                </a:solidFill>
                <a:latin typeface="Arial"/>
                <a:ea typeface="Arial"/>
                <a:cs typeface="Arial"/>
              </a:rPr>
              <a:t>latest mother diagram: v03 candidate · branch codex/cupid-v1-explainer-slides-v01</a:t>
            </a:r>
          </a:p>
        </p:txBody>
      </p:sp>
    </p:spTree>
    <p:extLst>
      <p:ext uri="{BB962C8B-B14F-4D97-AF65-F5344CB8AC3E}">
        <p14:creationId xmlns:p14="http://schemas.microsoft.com/office/powerpoint/2010/main" val="21145870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2134E2-4CC4-4DF5-84B0-16EFBF8E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50"/>
          </a:solidFill>
          <a:ln xmlns:a="http://schemas.openxmlformats.org/drawingml/2006/main" w="0">
            <a:solidFill>
              <a:srgbClr val="102E5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35FE4B-0AD9-4CA3-B15A-0698C3F0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"/>
            <a:ext cx="838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CUPID V1 · system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352D2D-08FD-425A-9061-1B23AD91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90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DCE8F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DCE8F3"/>
                </a:solidFill>
                <a:latin typeface="Arial"/>
                <a:ea typeface="Arial"/>
                <a:cs typeface="Arial"/>
              </a:rPr>
              <a:t>02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20CB01-5FC1-4052-B5FC-25F0A6FE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391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整体结论：只更新 Stage 2 的条件生成分布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331438-CF82-4D0D-8C12-947E7612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800100"/>
            <a:ext cx="11372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新增监督支路局部落在 Stage 2 之后；Stage 1、推理主链和 decoder / renderer 参数保持不变。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C9AF95-E378-4C5D-9093-E12C8DFF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38150"/>
            <a:ext cx="185737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96F1D"/>
          </a:solidFill>
          <a:ln xmlns:a="http://schemas.openxmlformats.org/drawingml/2006/main" w="0">
            <a:solidFill>
              <a:srgbClr val="D96F1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0B2CAF-6441-48CA-BC19-126D22CE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LATEST V03 CANDIDATE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0F313F-5100-4372-9484-1CD1F37B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6991350" cy="4781550"/>
          </a:xfrm>
          <a:prstGeom xmlns:a="http://schemas.openxmlformats.org/drawingml/2006/main" prst="roundRect">
            <a:avLst>
              <a:gd name="adj" fmla="val 1594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DEE7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dfdd097c1d4d1a"/>
          <a:stretch xmlns:a="http://schemas.openxmlformats.org/drawingml/2006/main"/>
        </p:blipFill>
        <p:spPr>
          <a:xfrm xmlns:a="http://schemas.openxmlformats.org/drawingml/2006/main">
            <a:off x="533400" y="1368425"/>
            <a:ext cx="6724650" cy="44831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A78F46-E3A0-4653-8CA0-59ED7961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200150"/>
            <a:ext cx="4038600" cy="4781550"/>
          </a:xfrm>
          <a:prstGeom xmlns:a="http://schemas.openxmlformats.org/drawingml/2006/main" prst="roundRect">
            <a:avLst>
              <a:gd name="adj" fmla="val 18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F5E0B1-B7B5-422C-9447-3028D2EE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3620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17F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17F78"/>
                </a:solidFill>
                <a:latin typeface="Arial"/>
                <a:ea typeface="Arial"/>
                <a:cs typeface="Arial"/>
              </a:rPr>
              <a:t>WHAT CHANGES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36343A-EF45-4CF8-BCD4-179F5F28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002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7F7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117F78"/>
                </a:solidFill>
                <a:latin typeface="PingFang SC"/>
                <a:ea typeface="PingFang SC"/>
                <a:cs typeface="PingFang SC"/>
              </a:rPr>
              <a:t>一条 training-only branch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12CE57-1093-4E91-9D31-88D958B3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335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x0_hat → frozen Gaussian decoder → fixed right-camera render → L1 + LPIPS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1A2AAA-5728-4F12-B6CD-6EE7CE2C0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47950"/>
            <a:ext cx="338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7"/>
          </a:solidFill>
          <a:ln xmlns:a="http://schemas.openxmlformats.org/drawingml/2006/main" w="0">
            <a:solidFill>
              <a:srgbClr val="D5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B47C03-DFD9-4CFA-94B5-EBFA2165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194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B78B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B78B5"/>
                </a:solidFill>
                <a:latin typeface="Arial"/>
                <a:ea typeface="Arial"/>
                <a:cs typeface="Arial"/>
              </a:rPr>
              <a:t>WHAT STAYS FIXED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BEF669-B9D2-4545-AED7-398B8AD8E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05150"/>
            <a:ext cx="33528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• 左图仍是唯一 conditioning image</a:t>
            </a:r>
          </a:p>
          <a:p xmlns:a="http://schemas.openxmlformats.org/drawingml/2006/main">
            <a:pPr algn="l">
              <a:defRPr sz="1125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• Stage 1 structure / UV / left pose path</a:t>
            </a:r>
          </a:p>
          <a:p xmlns:a="http://schemas.openxmlformats.org/drawingml/2006/main">
            <a:pPr algn="l">
              <a:defRPr sz="1125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• Gaussian decoder 与 renderer 的权重</a:t>
            </a:r>
          </a:p>
          <a:p xmlns:a="http://schemas.openxmlformats.org/drawingml/2006/main">
            <a:pPr algn="l">
              <a:defRPr sz="1125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• 推理 API：left-only，采样与输出格式不变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6389FF-AACD-4172-AC60-B5930B8B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24375"/>
            <a:ext cx="33718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9525">
            <a:solidFill>
              <a:srgbClr val="A9681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6B1745-644A-4E12-A3C8-D59B0BCC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482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9681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96816"/>
                </a:solidFill>
                <a:latin typeface="Arial"/>
                <a:ea typeface="Arial"/>
                <a:cs typeface="Arial"/>
              </a:rPr>
              <a:t>SCIENCE CLAIM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D62E62-2310-4DE4-A71E-A943BBA6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95850"/>
            <a:ext cx="2990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验证 cross-view renderability，</a:t>
            </a:r>
          </a:p>
          <a:p xmlns:a="http://schemas.openxmlformats.org/drawingml/2006/main">
            <a:pPr algn="l">
              <a:defRPr sz="1275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不直接验证 metric scale、pose accuracy 或真实 3D。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7359ED-6D1A-4068-BBED-DC7AE6A0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72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7"/>
          </a:solidFill>
          <a:ln xmlns:a="http://schemas.openxmlformats.org/drawingml/2006/main" w="0">
            <a:solidFill>
              <a:srgbClr val="D5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30188B-4DBF-4870-A453-995681E06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5913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母图来源：CUPID Figure 3 · v03 candidate；所有新增内容位于虚线训练区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BA299B-9EDD-4721-9F0D-65BA323A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913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397763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C59CBF5-9F38-4177-83AA-1255BE2F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50"/>
          </a:solidFill>
          <a:ln xmlns:a="http://schemas.openxmlformats.org/drawingml/2006/main" w="0">
            <a:solidFill>
              <a:srgbClr val="102E5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E963E4-A635-41A3-B670-5E6F8297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"/>
            <a:ext cx="838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CUPID V1 · decomposition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FF6F14-B06C-496E-83EC-8FBF2FB5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90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DCE8F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DCE8F3"/>
                </a:solidFill>
                <a:latin typeface="Arial"/>
                <a:ea typeface="Arial"/>
                <a:cs typeface="Arial"/>
              </a:rPr>
              <a:t>03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3CE5FD-1436-41AB-BC04-FAC6F9E51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391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两个拆分视角：6 个架构模块，5 个开发工作包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4E2468-9590-43B4-800A-6F2231ED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800100"/>
            <a:ext cx="11372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架构模块回答“数据和梯度怎么走”；工作包回答“实现还要补哪些可验证接口”。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994902-A048-40AA-B8CF-7ED3CC8A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192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B78B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B78B5"/>
                </a:solidFill>
                <a:latin typeface="Arial"/>
                <a:ea typeface="Arial"/>
                <a:cs typeface="Arial"/>
              </a:rPr>
              <a:t>ARCHITECTURE MODULES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87B193-824A-4297-9071-8A521D425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66850"/>
            <a:ext cx="1714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B78B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F7A7CD-E2ED-4B55-A411-FC906CD3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66850"/>
            <a:ext cx="400050" cy="8572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B78B5"/>
          </a:solidFill>
          <a:ln xmlns:a="http://schemas.openxmlformats.org/drawingml/2006/main" w="0">
            <a:solidFill>
              <a:srgbClr val="2B78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35C32A-4A7A-463E-8E84-0A500566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7162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F49091-A8AC-40CE-8924-CC318D85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543050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B78B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2B78B5"/>
                </a:solidFill>
                <a:latin typeface="PingFang SC"/>
                <a:ea typeface="PingFang SC"/>
                <a:cs typeface="PingFang SC"/>
              </a:rPr>
              <a:t>输入与监督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8A5857-D0FC-4D0A-8FC3-B64493A9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90700"/>
            <a:ext cx="106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paired stereo + masks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825454-23DA-4665-A96C-9C4E8154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466850"/>
            <a:ext cx="1714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B78B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7762CB-D9A7-48DE-8C78-B3038145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466850"/>
            <a:ext cx="400050" cy="8572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B78B5"/>
          </a:solidFill>
          <a:ln xmlns:a="http://schemas.openxmlformats.org/drawingml/2006/main" w="0">
            <a:solidFill>
              <a:srgbClr val="2B78B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839E49-2759-4A85-B0C8-9820CAAC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57162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6E36DD-0056-46E5-AA13-AAFBFF00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543050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B78B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2B78B5"/>
                </a:solidFill>
                <a:latin typeface="PingFang SC"/>
                <a:ea typeface="PingFang SC"/>
                <a:cs typeface="PingFang SC"/>
              </a:rPr>
              <a:t>Stage 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CF7F3E-1297-48CF-9409-FEC8EAF0F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790700"/>
            <a:ext cx="106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structure / UV / E_L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2ACF9E-6ED5-479F-A515-4A2DC7FF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466850"/>
            <a:ext cx="1714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6F1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52145D-04AF-426E-8A8E-1C888EE3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466850"/>
            <a:ext cx="400050" cy="8572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96F1D"/>
          </a:solidFill>
          <a:ln xmlns:a="http://schemas.openxmlformats.org/drawingml/2006/main" w="0">
            <a:solidFill>
              <a:srgbClr val="D96F1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19B1B7-ADE1-4F6D-889F-B93A9419B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7162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EF1220-A2AE-4119-A4AC-07B46249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543050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D96F1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D96F1D"/>
                </a:solidFill>
                <a:latin typeface="PingFang SC"/>
                <a:ea typeface="PingFang SC"/>
                <a:cs typeface="PingFang SC"/>
              </a:rPr>
              <a:t>Stage 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E86BE4-CD75-433C-B477-C5574F97D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90700"/>
            <a:ext cx="106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唯一可学习 denoiser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8A40E3-6268-4BF6-800D-9E05B5DD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466850"/>
            <a:ext cx="1714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6F1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0D48B4-E86A-4415-987E-E228B5E5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466850"/>
            <a:ext cx="400050" cy="8572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96F1D"/>
          </a:solidFill>
          <a:ln xmlns:a="http://schemas.openxmlformats.org/drawingml/2006/main" w="0">
            <a:solidFill>
              <a:srgbClr val="D96F1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C972A2-DF8E-4A26-B203-E11276E4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57162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F02559-7F4A-4A13-B5E6-DC6EF569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43050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D96F1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D96F1D"/>
                </a:solidFill>
                <a:latin typeface="PingFang SC"/>
                <a:ea typeface="PingFang SC"/>
                <a:cs typeface="PingFang SC"/>
              </a:rPr>
              <a:t>clean latent + decode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8F03D9-D87E-4CD3-A988-556A06B2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90700"/>
            <a:ext cx="106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frozen but differentiable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095B3D-3F4E-47E6-89F0-05237C4A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66850"/>
            <a:ext cx="1714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7F7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B50758-5173-44AF-9EDA-92865156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66850"/>
            <a:ext cx="400050" cy="8572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17F78"/>
          </a:solidFill>
          <a:ln xmlns:a="http://schemas.openxmlformats.org/drawingml/2006/main" w="0">
            <a:solidFill>
              <a:srgbClr val="117F7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842223-879D-4034-BAD4-4B2944E05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7162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1FD44F-EE7D-4E85-97FA-6336E413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543050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7F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117F78"/>
                </a:solidFill>
                <a:latin typeface="PingFang SC"/>
                <a:ea typeface="PingFang SC"/>
                <a:cs typeface="PingFang SC"/>
              </a:rPr>
              <a:t>right camera + render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D16E01-58D1-4C34-A359-09C6CEDE8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90700"/>
            <a:ext cx="106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fixed geometry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C2B75A-112B-4F1F-A521-3EA48E358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466850"/>
            <a:ext cx="1714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7F7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4AAB79-0D2D-462E-92CA-4D54E3AF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466850"/>
            <a:ext cx="400050" cy="8572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17F78"/>
          </a:solidFill>
          <a:ln xmlns:a="http://schemas.openxmlformats.org/drawingml/2006/main" w="0">
            <a:solidFill>
              <a:srgbClr val="117F7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DCA08E2-FC16-4E5C-8763-A2A83929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57162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385F1F-1E87-474D-8DBD-32EB4C5D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1543050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7F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117F78"/>
                </a:solidFill>
                <a:latin typeface="PingFang SC"/>
                <a:ea typeface="PingFang SC"/>
                <a:cs typeface="PingFang SC"/>
              </a:rPr>
              <a:t>loss + gradient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F5B8C1-D2AD-4413-8501-EFECAEEE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1790700"/>
            <a:ext cx="106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sink / boundary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F65F40B-0FBF-40C2-90CB-F8F9DC26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051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96F1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D96F1D"/>
                </a:solidFill>
                <a:latin typeface="Arial"/>
                <a:ea typeface="Arial"/>
                <a:cs typeface="Arial"/>
              </a:rPr>
              <a:t>IMPLEMENTATION WORK PACKAGES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27F047-5D3D-4CF5-9983-707587F2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90850"/>
            <a:ext cx="3429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B78B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552FC92-5EAE-49BB-9CFA-E0C0EB71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242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B78B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B78B5"/>
                </a:solidFill>
                <a:latin typeface="Arial"/>
                <a:ea typeface="Arial"/>
                <a:cs typeface="Arial"/>
              </a:rPr>
              <a:t>WP1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63535E6-AC4B-48A9-98B1-E805E411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05150"/>
            <a:ext cx="2400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paired data carrier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D10C059-0ECC-478A-82F1-31937F19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9090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same object / time + T_R&lt;-L + K_R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8448371-AAEF-4BEF-B367-C113410F2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90850"/>
            <a:ext cx="3429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6F1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F9B52DC-A877-42A3-9B09-D507BB60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1242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96F1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96F1D"/>
                </a:solidFill>
                <a:latin typeface="Arial"/>
                <a:ea typeface="Arial"/>
                <a:cs typeface="Arial"/>
              </a:rPr>
              <a:t>WP2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BCA222D-9121-44D0-A3EB-C873E136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05150"/>
            <a:ext cx="2400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trainer variant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1CD3FB3-6731-439D-A19E-70718635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9090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one-step x0_hat + original FM MSE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2235D3B-F62A-4846-9B02-E0DED806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90850"/>
            <a:ext cx="3429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7F7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BD05288-5936-4145-86E3-B32311B4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242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17F7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17F78"/>
                </a:solidFill>
                <a:latin typeface="Arial"/>
                <a:ea typeface="Arial"/>
                <a:cs typeface="Arial"/>
              </a:rPr>
              <a:t>WP3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6AE0FB6-DC92-4684-98D4-F26C483F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05150"/>
            <a:ext cx="2400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frozen consumer path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68BE8C0-131E-45D1-AAB8-E1DF7540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9090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decoder eval + differentiable render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59DB25D-3F7D-4B2B-A2EA-FCD1C5B5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33850"/>
            <a:ext cx="52863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7F7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25ECA3B-4956-4CFA-BA35-AD252A23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672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17F7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17F78"/>
                </a:solidFill>
                <a:latin typeface="Arial"/>
                <a:ea typeface="Arial"/>
                <a:cs typeface="Arial"/>
              </a:rPr>
              <a:t>WP4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8874F97-71CB-4402-BBAD-C22CDD5F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48150"/>
            <a:ext cx="42576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loss / mask / logs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3A3B87C-5DAC-4BD1-A15D-A69ED547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33900"/>
            <a:ext cx="4257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right L1+LPIPS + CFG routing + gradients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629020A-E437-4FE1-8403-07BEE272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133850"/>
            <a:ext cx="52863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681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7FB6635-44D1-4D2A-B3FE-88422F8F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2672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9681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96816"/>
                </a:solidFill>
                <a:latin typeface="Arial"/>
                <a:ea typeface="Arial"/>
                <a:cs typeface="Arial"/>
              </a:rPr>
              <a:t>WP5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65FC5F5-8FF3-412E-8E37-6C611499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248150"/>
            <a:ext cx="42576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config + cluster gate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899CB63-C47E-4F5F-B90D-91E3982A6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533900"/>
            <a:ext cx="4257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matched control / treatment / smoke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E000521-F67A-4FBD-8B83-F1E5160F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57800"/>
            <a:ext cx="11144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C4454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A50E375-92E6-46BC-81A7-CAF2B50D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911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4454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C44545"/>
                </a:solidFill>
                <a:latin typeface="PingFang SC"/>
                <a:ea typeface="PingFang SC"/>
                <a:cs typeface="PingFang SC"/>
              </a:rPr>
              <a:t>当前状态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59BE57E-FFD7-4D2D-848F-71714D29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362575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5 个工作包均未实现，当前只有设计图、代码锚点和待验证合同。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31AE09B-E288-4682-9572-4F67B17C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62927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进入实现前要先冻结 lambda_right、配对清单、相机约定与 matched baseline。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491EEC3-C1C9-4CC0-8BC1-66406B0D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72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7"/>
          </a:solidFill>
          <a:ln xmlns:a="http://schemas.openxmlformats.org/drawingml/2006/main" w="0">
            <a:solidFill>
              <a:srgbClr val="D5DEE7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5E2CEFB-8578-4E20-AFCB-06E3B8123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5913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架构 6 模块 ≠ 代码 6 个新模块；V1 不新增 learned module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7599AFC-7717-470C-86F5-1BDB537A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913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578430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13C1C2-052F-4911-AFD5-4D6FB0BE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50"/>
          </a:solidFill>
          <a:ln xmlns:a="http://schemas.openxmlformats.org/drawingml/2006/main" w="0">
            <a:solidFill>
              <a:srgbClr val="102E5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D6D71E-EFB2-4469-B36D-076DAE17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"/>
            <a:ext cx="838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MODULE 01 · DATA CONTRACT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9ABC7B-EBF1-4CA7-88F4-6F16544B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90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DCE8F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DCE8F3"/>
                </a:solidFill>
                <a:latin typeface="Arial"/>
                <a:ea typeface="Arial"/>
                <a:cs typeface="Arial"/>
              </a:rPr>
              <a:t>04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E7CB87-14E6-4C1B-8705-80184ED1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391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Part 1 · 输入与监督：右图是 target，不是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30DDAF-6143-455A-B3A6-EBB49494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800100"/>
            <a:ext cx="11372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同一实例、同一 timestamp、已标定的左右观测组成训练样本；右图从不进入 DINOv2 或 visual conditioning。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0206C9-962F-49C8-9C7E-461CE96C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38150"/>
            <a:ext cx="2171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17F78"/>
          </a:solidFill>
          <a:ln xmlns:a="http://schemas.openxmlformats.org/drawingml/2006/main" w="0">
            <a:solidFill>
              <a:srgbClr val="117F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9847E5-0C24-4EA7-8056-00E1C3C8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5720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DESIGN ONLY · NOT IMPLEMENTED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3D1473-5CC9-4E40-89B8-BCA1A49B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4667250" cy="483870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A63A5A-9251-4664-A3A0-5855EAF6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B78B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B78B5"/>
                </a:solidFill>
                <a:latin typeface="Arial"/>
                <a:ea typeface="Arial"/>
                <a:cs typeface="Arial"/>
              </a:rPr>
              <a:t>INHERITED DIAGRAM CROP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0f63504b6b40fe"/>
          <a:stretch xmlns:a="http://schemas.openxmlformats.org/drawingml/2006/main"/>
        </p:blipFill>
        <p:spPr>
          <a:xfrm xmlns:a="http://schemas.openxmlformats.org/drawingml/2006/main">
            <a:off x="2075672" y="1571625"/>
            <a:ext cx="1296957" cy="414337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F682E8-F697-4E5A-A3F4-46C577D1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53100"/>
            <a:ext cx="426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 i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 i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从母图复制：single-view input + synchronized right observation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D55300-D897-4C4E-BA20-CF510A93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2382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B78B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B78B5"/>
                </a:solidFill>
                <a:latin typeface="Arial"/>
                <a:ea typeface="Arial"/>
                <a:cs typeface="Arial"/>
              </a:rPr>
              <a:t>INTERFACE CONTRACT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06DF83-0CBB-49F3-91B6-ACC1FE2A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504950"/>
            <a:ext cx="63817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E8F3FB"/>
          </a:solidFill>
          <a:ln xmlns:a="http://schemas.openxmlformats.org/drawingml/2006/main" w="9525">
            <a:solidFill>
              <a:srgbClr val="2B78B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E9B981-F0C2-4C2B-A57A-6D8524CB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619250"/>
            <a:ext cx="1854327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B78B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2B78B5"/>
                </a:solidFill>
                <a:latin typeface="PingFang SC"/>
                <a:ea typeface="PingFang SC"/>
                <a:cs typeface="PingFang SC"/>
              </a:rPr>
              <a:t>输入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F10198-97F7-44B7-A278-157BB843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8827" y="1619250"/>
            <a:ext cx="412737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I_L, x0, uvs, E_L/K_L, I_R/alpha_R, T_R&lt;-L, K_R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4288AA-0B6F-4E8F-A55A-32B6DCFB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943100"/>
            <a:ext cx="1854327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B78B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2B78B5"/>
                </a:solidFill>
                <a:latin typeface="PingFang SC"/>
                <a:ea typeface="PingFang SC"/>
                <a:cs typeface="PingFang SC"/>
              </a:rPr>
              <a:t>输出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371494-112F-475F-A9CB-AC24AE87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8827" y="1943100"/>
            <a:ext cx="412737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paired sample + cfg_conditioned + stereo_valid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40568C-E06A-4E10-818B-C14585AB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66950"/>
            <a:ext cx="1854327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B78B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2B78B5"/>
                </a:solidFill>
                <a:latin typeface="PingFang SC"/>
                <a:ea typeface="PingFang SC"/>
                <a:cs typeface="PingFang SC"/>
              </a:rPr>
              <a:t>梯度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C091CF-C7A7-4D0F-8740-D82E133F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8827" y="2266950"/>
            <a:ext cx="412737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所有 metadata / target 均无梯度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F0404E-6BD2-41F3-8623-A2A6A072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67000"/>
            <a:ext cx="30670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034A63-062A-4525-8C83-6D9FD761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813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B78B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B78B5"/>
                </a:solidFill>
                <a:latin typeface="Arial"/>
                <a:ea typeface="Arial"/>
                <a:cs typeface="Arial"/>
              </a:rPr>
              <a:t>KNOWN / UNKNOWN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23189A-8870-4E28-AAD0-4B5B66F3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067050"/>
            <a:ext cx="2686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• same object / time / eye ordering</a:t>
            </a:r>
          </a:p>
          <a:p xmlns:a="http://schemas.openxmlformats.org/drawingml/2006/main">
            <a:pPr algn="l">
              <a:defRPr sz="1050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• camera matrices 与 crop 后 K_R</a:t>
            </a:r>
          </a:p>
          <a:p xmlns:a="http://schemas.openxmlformats.org/drawingml/2006/main">
            <a:pPr algn="l">
              <a:defRPr sz="1050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• stereo_valid 与 alpha_R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568E76-294B-4866-9A6D-4F839B4F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67000"/>
            <a:ext cx="30861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152971-BA4E-4DDC-B732-143E1813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7813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96F1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D96F1D"/>
                </a:solidFill>
                <a:latin typeface="Arial"/>
                <a:ea typeface="Arial"/>
                <a:cs typeface="Arial"/>
              </a:rPr>
              <a:t>LEARNING STATUS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87605A-698B-4091-AC74-B9260D19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067050"/>
            <a:ext cx="27051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• 没有新增可学习参数</a:t>
            </a:r>
          </a:p>
          <a:p xmlns:a="http://schemas.openxmlformats.org/drawingml/2006/main">
            <a:pPr algn="l">
              <a:defRPr sz="1050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• pairing 失败是 hard failure</a:t>
            </a:r>
          </a:p>
          <a:p xmlns:a="http://schemas.openxmlformats.org/drawingml/2006/main">
            <a:pPr algn="l">
              <a:defRPr sz="1050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• 随机 view 不能冒充 stereo pair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BC287A-221A-414F-9AF2-F3F64810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91025"/>
            <a:ext cx="6381750" cy="1438275"/>
          </a:xfrm>
          <a:prstGeom xmlns:a="http://schemas.openxmlformats.org/drawingml/2006/main" prst="roundRect">
            <a:avLst>
              <a:gd name="adj" fmla="val 5298"/>
            </a:avLst>
          </a:prstGeom>
          <a:solidFill xmlns:a="http://schemas.openxmlformats.org/drawingml/2006/main">
            <a:srgbClr val="E8F3FB"/>
          </a:solidFill>
          <a:ln xmlns:a="http://schemas.openxmlformats.org/drawingml/2006/main" w="9525">
            <a:solidFill>
              <a:srgbClr val="2B78B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42E73C-1698-49C8-BE3B-679B700B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053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B78B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B78B5"/>
                </a:solidFill>
                <a:latin typeface="Arial"/>
                <a:ea typeface="Arial"/>
                <a:cs typeface="Arial"/>
              </a:rPr>
              <a:t>SUPERVISION / LOSS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26BF36-E181-4CB5-8955-64012651C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791075"/>
            <a:ext cx="600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I_R_gt = I_R * alpha_R + (1 - alpha_R) * bg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D4251D-7863-4EE4-96F5-B68474D5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25780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自监督来自同步右目观测与固定标定几何，不需要 pose / depth 标签。cfg dropout 后，只有 condition-preserved 样本才可进入 right loss。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B135CC-7584-4335-B63D-8B72834D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72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7"/>
          </a:solidFill>
          <a:ln xmlns:a="http://schemas.openxmlformats.org/drawingml/2006/main" w="0">
            <a:solidFill>
              <a:srgbClr val="D5DE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976E5B-E76C-44B4-9589-18D0B9EC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5913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Part 1 · paired-data carrier 是 proposed contract，当前代码未实现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809F9C-FDEF-4675-A802-F99FAE66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913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793834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B00FB6-64EE-408B-9929-B25BFF33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50"/>
          </a:solidFill>
          <a:ln xmlns:a="http://schemas.openxmlformats.org/drawingml/2006/main" w="0">
            <a:solidFill>
              <a:srgbClr val="102E5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DC11A3-5CE9-4A48-8F24-00785972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"/>
            <a:ext cx="838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MODULE 02 · UPSTREAM CONDITIONING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DDA314-9864-431A-A3A4-D9DA423B1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90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DCE8F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DCE8F3"/>
                </a:solidFill>
                <a:latin typeface="Arial"/>
                <a:ea typeface="Arial"/>
                <a:cs typeface="Arial"/>
              </a:rPr>
              <a:t>05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28B606-C45F-41FF-BB5C-5AA9F71B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391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Part 2 · Stage 1：结构和左目 pose 在 V1 中冻结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59F25A-CD64-4A32-82C4-A2E2DD54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800100"/>
            <a:ext cx="11372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Stage 1 继续从左图产生 sparse structure、UV 和左目相机；右目重建 loss 不回传到这条路径。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4658D5-B6A7-476B-A37C-CCCFF1D4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38150"/>
            <a:ext cx="2171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17F78"/>
          </a:solidFill>
          <a:ln xmlns:a="http://schemas.openxmlformats.org/drawingml/2006/main" w="0">
            <a:solidFill>
              <a:srgbClr val="117F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7E34F3-6463-4DE9-82DC-DE023FA2F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5720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DESIGN ONLY · NOT IMPLEMENTED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043A65-27A5-43B9-A833-CDD9E973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4667250" cy="483870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608CC7-9E90-4BAD-A654-03CDF8CB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B78B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B78B5"/>
                </a:solidFill>
                <a:latin typeface="Arial"/>
                <a:ea typeface="Arial"/>
                <a:cs typeface="Arial"/>
              </a:rPr>
              <a:t>INHERITED DIAGRAM CROP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310b0b705047ab"/>
          <a:stretch xmlns:a="http://schemas.openxmlformats.org/drawingml/2006/main"/>
        </p:blipFill>
        <p:spPr>
          <a:xfrm xmlns:a="http://schemas.openxmlformats.org/drawingml/2006/main">
            <a:off x="552450" y="2141084"/>
            <a:ext cx="4343400" cy="3004457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58850D-02C9-4CD5-8A58-1208705C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53100"/>
            <a:ext cx="426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 i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 i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从母图复制：Occupancy &amp; Pose Generation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C5AC1B-6E6C-488A-BEF4-297100F9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2382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B78B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B78B5"/>
                </a:solidFill>
                <a:latin typeface="Arial"/>
                <a:ea typeface="Arial"/>
                <a:cs typeface="Arial"/>
              </a:rPr>
              <a:t>INTERFACE CONTRACT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00AAB7-C28A-41CF-BFB1-FF28BC39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504950"/>
            <a:ext cx="63817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E8F3FB"/>
          </a:solidFill>
          <a:ln xmlns:a="http://schemas.openxmlformats.org/drawingml/2006/main" w="9525">
            <a:solidFill>
              <a:srgbClr val="2B78B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AC11AA-D9D3-4BCF-B4EF-AB375220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619250"/>
            <a:ext cx="1854327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B78B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2B78B5"/>
                </a:solidFill>
                <a:latin typeface="PingFang SC"/>
                <a:ea typeface="PingFang SC"/>
                <a:cs typeface="PingFang SC"/>
              </a:rPr>
              <a:t>输入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FAF168-6976-459E-939D-4065FF484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8827" y="1619250"/>
            <a:ext cx="412737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I_L → DINOv2 / visual cond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69DB2E-534D-4B09-82D2-3752A253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943100"/>
            <a:ext cx="1854327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B78B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2B78B5"/>
                </a:solidFill>
                <a:latin typeface="PingFang SC"/>
                <a:ea typeface="PingFang SC"/>
                <a:cs typeface="PingFang SC"/>
              </a:rPr>
              <a:t>输出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BD5830-F6B9-4724-A895-2CB3F81F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8827" y="1943100"/>
            <a:ext cx="412737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sparse structure、UV、E_L / K_L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8682F0-D5FE-4ABA-8D8F-ED8B143B9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66950"/>
            <a:ext cx="1854327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B78B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2B78B5"/>
                </a:solidFill>
                <a:latin typeface="PingFang SC"/>
                <a:ea typeface="PingFang SC"/>
                <a:cs typeface="PingFang SC"/>
              </a:rPr>
              <a:t>梯度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097C8C-6F2E-486D-BBC4-C6D4A061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8827" y="2266950"/>
            <a:ext cx="412737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4454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C44545"/>
                </a:solidFill>
                <a:latin typeface="PingFang SC"/>
                <a:ea typeface="PingFang SC"/>
                <a:cs typeface="PingFang SC"/>
              </a:rPr>
              <a:t>right loss 到 Stage 1 截止，不更新其参数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3AE3A2-0018-461B-9D56-AE807BA2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67000"/>
            <a:ext cx="30670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18329D-E1DC-41AD-9301-A277E2CB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813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B78B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B78B5"/>
                </a:solidFill>
                <a:latin typeface="Arial"/>
                <a:ea typeface="Arial"/>
                <a:cs typeface="Arial"/>
              </a:rPr>
              <a:t>KNOWN / UNKNOWN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73F0F9-10F1-4A87-9746-E793B823D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067050"/>
            <a:ext cx="2686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• Stage 1 checkpoint / topology</a:t>
            </a:r>
          </a:p>
          <a:p xmlns:a="http://schemas.openxmlformats.org/drawingml/2006/main">
            <a:pPr algn="l">
              <a:defRPr sz="1050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• left pose-aligned UV convention</a:t>
            </a:r>
          </a:p>
          <a:p xmlns:a="http://schemas.openxmlformats.org/drawingml/2006/main">
            <a:pPr algn="l">
              <a:defRPr sz="1050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• sparse coordinates 与 normalization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E9100B-24EB-45BC-934A-914924C7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67000"/>
            <a:ext cx="30861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1CC595-2D7C-4BDF-BD94-A63602B2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7813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4454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44545"/>
                </a:solidFill>
                <a:latin typeface="Arial"/>
                <a:ea typeface="Arial"/>
                <a:cs typeface="Arial"/>
              </a:rPr>
              <a:t>LEARNING STATUS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545B46-EF3E-43CA-B64E-0FE90E3A5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067050"/>
            <a:ext cx="27051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• 模型冻结</a:t>
            </a:r>
          </a:p>
          <a:p xmlns:a="http://schemas.openxmlformats.org/drawingml/2006/main">
            <a:pPr algn="l">
              <a:defRPr sz="1050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• 相机预测 path 不参与 V1 学习</a:t>
            </a:r>
          </a:p>
          <a:p xmlns:a="http://schemas.openxmlformats.org/drawingml/2006/main">
            <a:pPr algn="l">
              <a:defRPr sz="1050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• 上游训练目标沿用原 CUPID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866462-DC96-4420-BBBB-FD957064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91025"/>
            <a:ext cx="6381750" cy="1438275"/>
          </a:xfrm>
          <a:prstGeom xmlns:a="http://schemas.openxmlformats.org/drawingml/2006/main" prst="roundRect">
            <a:avLst>
              <a:gd name="adj" fmla="val 5298"/>
            </a:avLst>
          </a:prstGeom>
          <a:solidFill xmlns:a="http://schemas.openxmlformats.org/drawingml/2006/main">
            <a:srgbClr val="E8F3FB"/>
          </a:solidFill>
          <a:ln xmlns:a="http://schemas.openxmlformats.org/drawingml/2006/main" w="9525">
            <a:solidFill>
              <a:srgbClr val="2B78B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E73643-19B2-46B5-B94A-5FBC7993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053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B78B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B78B5"/>
                </a:solidFill>
                <a:latin typeface="Arial"/>
                <a:ea typeface="Arial"/>
                <a:cs typeface="Arial"/>
              </a:rPr>
              <a:t>SUPERVISION / LOSS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4FA470-2173-4132-B27C-DDB364C9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791075"/>
            <a:ext cx="600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V1 不新增 Stage 1 loss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F18D5E-BD1B-4120-A755-2CC1DFF4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25780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这一步只把已有左目条件交给 Stage 2。若 Stage 1 改动、右图进入 DINOv2，或 pose/depth 监督加入，实验就不再是 V1 最小 Gate。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EC1383-AC75-4495-AD75-ACD38FC7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72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7"/>
          </a:solidFill>
          <a:ln xmlns:a="http://schemas.openxmlformats.org/drawingml/2006/main" w="0">
            <a:solidFill>
              <a:srgbClr val="D5DE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8F4ADE-B770-45EC-95E0-76124CDF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5913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Part 2 · pipeline.py:305 / :312 / :217 · upstream frozen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45CAF6-059A-4552-988F-568469ED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913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722421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06A426-F052-44B3-92B2-51CAAD2DC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50"/>
          </a:solidFill>
          <a:ln xmlns:a="http://schemas.openxmlformats.org/drawingml/2006/main" w="0">
            <a:solidFill>
              <a:srgbClr val="102E5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894F0C-4A51-4EF5-AAA1-09321B36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"/>
            <a:ext cx="838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MODULE 03 · LEARNABLE CORE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A1F8A9-5392-402B-95AB-3A3B895BC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90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DCE8F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DCE8F3"/>
                </a:solidFill>
                <a:latin typeface="Arial"/>
                <a:ea typeface="Arial"/>
                <a:cs typeface="Arial"/>
              </a:rPr>
              <a:t>06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497E2E-543A-4516-A56C-63152189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391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Part 3 · Stage 2：唯一可学习主体是现有 denoiser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3A5CB-0849-41AE-BFBA-DE585456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800100"/>
            <a:ext cx="11372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Stage 2 接收 noisy latent、时间步和左图条件，预测 flow velocity；V1 只在原 MSE 之后接上右目分支。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A104D7-0281-4041-98D1-254D8837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38150"/>
            <a:ext cx="2171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17F78"/>
          </a:solidFill>
          <a:ln xmlns:a="http://schemas.openxmlformats.org/drawingml/2006/main" w="0">
            <a:solidFill>
              <a:srgbClr val="117F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619F5F-5995-4911-8979-8819F169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5720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DESIGN ONLY · NOT IMPLEMENTED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0385D2-5366-46A5-9FE4-70B999D6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4667250" cy="483870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769DF4-7A3A-4006-ADF3-97CF889A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96F1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D96F1D"/>
                </a:solidFill>
                <a:latin typeface="Arial"/>
                <a:ea typeface="Arial"/>
                <a:cs typeface="Arial"/>
              </a:rPr>
              <a:t>INHERITED DIAGRAM CROP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a29c62034c4ade"/>
          <a:stretch xmlns:a="http://schemas.openxmlformats.org/drawingml/2006/main"/>
        </p:blipFill>
        <p:spPr>
          <a:xfrm xmlns:a="http://schemas.openxmlformats.org/drawingml/2006/main">
            <a:off x="695773" y="1571625"/>
            <a:ext cx="4056754" cy="414337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7F328B-6DA6-433D-AB28-96E2B0958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53100"/>
            <a:ext cx="426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 i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 i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从母图复制：Pose-aligned Geometry &amp; Appearance Generation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B17A6C-7CF1-439F-9F70-9E5855E99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2382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96F1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D96F1D"/>
                </a:solidFill>
                <a:latin typeface="Arial"/>
                <a:ea typeface="Arial"/>
                <a:cs typeface="Arial"/>
              </a:rPr>
              <a:t>INTERFACE CONTRACT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5B7213-D1E5-448B-804C-2E2F13539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504950"/>
            <a:ext cx="63817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0E5"/>
          </a:solidFill>
          <a:ln xmlns:a="http://schemas.openxmlformats.org/drawingml/2006/main" w="9525">
            <a:solidFill>
              <a:srgbClr val="D96F1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CA587E-645F-43EA-A411-115C8C11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619250"/>
            <a:ext cx="1854327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96F1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D96F1D"/>
                </a:solidFill>
                <a:latin typeface="PingFang SC"/>
                <a:ea typeface="PingFang SC"/>
                <a:cs typeface="PingFang SC"/>
              </a:rPr>
              <a:t>输入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2050D3-67E3-42E5-BC30-C0BC21B0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8827" y="1619250"/>
            <a:ext cx="412737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x_t, t, cond(I_L, uvs)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13D74C-8A68-42AA-B1FD-AE83139A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943100"/>
            <a:ext cx="1854327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96F1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D96F1D"/>
                </a:solidFill>
                <a:latin typeface="PingFang SC"/>
                <a:ea typeface="PingFang SC"/>
                <a:cs typeface="PingFang SC"/>
              </a:rPr>
              <a:t>输出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6C8CEC-471E-416E-8131-00D97E06C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8827" y="1943100"/>
            <a:ext cx="412737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v_hat → structured latent distribution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959F81-90C5-4332-9B6C-50B0F3F4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66950"/>
            <a:ext cx="1854327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96F1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D96F1D"/>
                </a:solidFill>
                <a:latin typeface="PingFang SC"/>
                <a:ea typeface="PingFang SC"/>
                <a:cs typeface="PingFang SC"/>
              </a:rPr>
              <a:t>梯度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37073C-5431-4D23-B3A4-A259F4E7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8827" y="2266950"/>
            <a:ext cx="412737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F876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2F8761"/>
                </a:solidFill>
                <a:latin typeface="PingFang SC"/>
                <a:ea typeface="PingFang SC"/>
                <a:cs typeface="PingFang SC"/>
              </a:rPr>
              <a:t>L_total 只更新 Stage 2 denoiser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3E07E7-F218-4C11-9E01-7F2DA6F63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67000"/>
            <a:ext cx="30670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071E59-FD7D-4FA3-AA17-0A09ED039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813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B78B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B78B5"/>
                </a:solidFill>
                <a:latin typeface="Arial"/>
                <a:ea typeface="Arial"/>
                <a:cs typeface="Arial"/>
              </a:rPr>
              <a:t>KNOWN / UNKNOWN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063766-A790-4CBC-BFA1-33749FA5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067050"/>
            <a:ext cx="2686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• noise / t sampling 与 sigma_min</a:t>
            </a:r>
          </a:p>
          <a:p xmlns:a="http://schemas.openxmlformats.org/drawingml/2006/main">
            <a:pPr algn="l">
              <a:defRPr sz="1050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• left-only conditioning</a:t>
            </a:r>
          </a:p>
          <a:p xmlns:a="http://schemas.openxmlformats.org/drawingml/2006/main">
            <a:pPr algn="l">
              <a:defRPr sz="1050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• original flow-matching target v_target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F572CB-D2CE-4075-A9A7-AC9A92F5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67000"/>
            <a:ext cx="30861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FF8119-DCB2-4FCF-9A1B-43A2C9CD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7813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8761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F8761"/>
                </a:solidFill>
                <a:latin typeface="Arial"/>
                <a:ea typeface="Arial"/>
                <a:cs typeface="Arial"/>
              </a:rPr>
              <a:t>LEARNING STATUS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C733AC-D11C-41B4-82BF-22A3F839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067050"/>
            <a:ext cx="27051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• 可学习：denoiser weights</a:t>
            </a:r>
          </a:p>
          <a:p xmlns:a="http://schemas.openxmlformats.org/drawingml/2006/main">
            <a:pPr algn="l">
              <a:defRPr sz="1050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• 不新增 relation / pose / depth head</a:t>
            </a:r>
          </a:p>
          <a:p xmlns:a="http://schemas.openxmlformats.org/drawingml/2006/main">
            <a:pPr algn="l">
              <a:defRPr sz="1050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• CFG dropout 必须保留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9852AD-FDDB-46A1-9E06-7D1BB829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91025"/>
            <a:ext cx="6381750" cy="1438275"/>
          </a:xfrm>
          <a:prstGeom xmlns:a="http://schemas.openxmlformats.org/drawingml/2006/main" prst="roundRect">
            <a:avLst>
              <a:gd name="adj" fmla="val 5298"/>
            </a:avLst>
          </a:prstGeom>
          <a:solidFill xmlns:a="http://schemas.openxmlformats.org/drawingml/2006/main">
            <a:srgbClr val="E8F3FB"/>
          </a:solidFill>
          <a:ln xmlns:a="http://schemas.openxmlformats.org/drawingml/2006/main" w="9525">
            <a:solidFill>
              <a:srgbClr val="D96F1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8DDF10-AEDD-4181-981F-EA60C23F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053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96F1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D96F1D"/>
                </a:solidFill>
                <a:latin typeface="Arial"/>
                <a:ea typeface="Arial"/>
                <a:cs typeface="Arial"/>
              </a:rPr>
              <a:t>SUPERVISION / LOSS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E6ADFA-2581-4A65-88C4-EB722CCC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791075"/>
            <a:ext cx="600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L_total = L_flow_matching + lambda_right * L_right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8669A0-8F46-4E08-9468-420F3187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25780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当前代码的唯一 baseline loss 是 velocity MSE。V1 的 right loss 作用对象仍然是同一个 denoiser，不增加第二个 optimizer 或交替训练阶段。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22B731-1B65-4F37-8E7C-8CD997D63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72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7"/>
          </a:solidFill>
          <a:ln xmlns:a="http://schemas.openxmlformats.org/drawingml/2006/main" w="0">
            <a:solidFill>
              <a:srgbClr val="D5DE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B37EDB-1496-4CA7-8921-CDB7943D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5913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Part 3 · sparse_flow_matching.py:95–104 · 唯一 trainable boundary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7A7801-D901-4279-90A9-CE59A214B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913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976045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89ED3F-800F-4641-9B20-4359ED70B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50"/>
          </a:solidFill>
          <a:ln xmlns:a="http://schemas.openxmlformats.org/drawingml/2006/main" w="0">
            <a:solidFill>
              <a:srgbClr val="102E5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D38AC3-C3A8-4995-AF8A-3B8AA86E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"/>
            <a:ext cx="838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MODULE 04 · DIFFERENTIABLE FROZEN CONSUMER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99218C-724D-4F92-A264-6AE7072C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90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DCE8F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DCE8F3"/>
                </a:solidFill>
                <a:latin typeface="Arial"/>
                <a:ea typeface="Arial"/>
                <a:cs typeface="Arial"/>
              </a:rPr>
              <a:t>07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AC18B1-95FE-4938-B789-FABB5E1E4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391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Part 4 · one-step clean latent：decoder 冻结，但梯度不能断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EA9469-9728-4EB9-A072-1E467C9E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800100"/>
            <a:ext cx="11372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从 v_hat 代数反推出 x0_hat，再经过 frozen Gaussian decoder；参数不更新，但 decoder 运算必须对 latent 可微。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B87EA9-FE74-460F-A5B5-29957A90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38150"/>
            <a:ext cx="2171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17F78"/>
          </a:solidFill>
          <a:ln xmlns:a="http://schemas.openxmlformats.org/drawingml/2006/main" w="0">
            <a:solidFill>
              <a:srgbClr val="117F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AECAF2-99E0-4516-A0FD-AE19ED78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5720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DESIGN ONLY · NOT IMPLEMENTED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2FF0B3-67E1-4F6E-B2EB-DBB67274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4667250" cy="483870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4AA048-3682-4B80-A2EC-5EC9541B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96F1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D96F1D"/>
                </a:solidFill>
                <a:latin typeface="Arial"/>
                <a:ea typeface="Arial"/>
                <a:cs typeface="Arial"/>
              </a:rPr>
              <a:t>INHERITED DIAGRAM CROP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275b5a19164a61"/>
          <a:stretch xmlns:a="http://schemas.openxmlformats.org/drawingml/2006/main"/>
        </p:blipFill>
        <p:spPr>
          <a:xfrm xmlns:a="http://schemas.openxmlformats.org/drawingml/2006/main">
            <a:off x="764034" y="1571625"/>
            <a:ext cx="3920231" cy="414337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FA1B0F-40D9-4BD9-B85B-66667705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53100"/>
            <a:ext cx="426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 i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 i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从母图复制：one-step clean latent + reused 3D Gaussians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2DB175-6AA9-4274-8168-3233CB2E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2382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96F1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D96F1D"/>
                </a:solidFill>
                <a:latin typeface="Arial"/>
                <a:ea typeface="Arial"/>
                <a:cs typeface="Arial"/>
              </a:rPr>
              <a:t>INTERFACE CONTRACT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2EEC3E-D640-4D42-869A-259095790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504950"/>
            <a:ext cx="63817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0E5"/>
          </a:solidFill>
          <a:ln xmlns:a="http://schemas.openxmlformats.org/drawingml/2006/main" w="9525">
            <a:solidFill>
              <a:srgbClr val="D96F1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5656D1-707A-4BB5-8A67-9430149D4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619250"/>
            <a:ext cx="1854327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96F1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D96F1D"/>
                </a:solidFill>
                <a:latin typeface="PingFang SC"/>
                <a:ea typeface="PingFang SC"/>
                <a:cs typeface="PingFang SC"/>
              </a:rPr>
              <a:t>输入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5E9807-6093-475A-A860-E23151A2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8827" y="1619250"/>
            <a:ext cx="412737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x_t, t, v_hat + latent mean/std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0B494A-22BD-4439-83A4-15440E12D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943100"/>
            <a:ext cx="1854327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96F1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D96F1D"/>
                </a:solidFill>
                <a:latin typeface="PingFang SC"/>
                <a:ea typeface="PingFang SC"/>
                <a:cs typeface="PingFang SC"/>
              </a:rPr>
              <a:t>输出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545F0B-C5B6-4286-8825-2BD3E11E4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8827" y="1943100"/>
            <a:ext cx="412737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x0_hat → Gaussian list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D185ED-A53A-43C5-8D1A-8F6BCB35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66950"/>
            <a:ext cx="1854327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96F1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D96F1D"/>
                </a:solidFill>
                <a:latin typeface="PingFang SC"/>
                <a:ea typeface="PingFang SC"/>
                <a:cs typeface="PingFang SC"/>
              </a:rPr>
              <a:t>梯度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F13CED-14C5-4D17-8C9F-2B7CA256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8827" y="2266950"/>
            <a:ext cx="412737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F876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2F8761"/>
                </a:solidFill>
                <a:latin typeface="PingFang SC"/>
                <a:ea typeface="PingFang SC"/>
                <a:cs typeface="PingFang SC"/>
              </a:rPr>
              <a:t>参数 frozen；输入梯度保留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9DFE2E-12CA-431D-BBF5-4CB8E833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67000"/>
            <a:ext cx="30670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609CFA-CD90-4F6B-89FB-B30B991E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813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B78B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B78B5"/>
                </a:solidFill>
                <a:latin typeface="Arial"/>
                <a:ea typeface="Arial"/>
                <a:cs typeface="Arial"/>
              </a:rPr>
              <a:t>KNOWN / UNKNOWN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D3B8EF-9D29-4839-B36A-3F786F0B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067050"/>
            <a:ext cx="2686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• v→x0 公式与 sigma_min</a:t>
            </a:r>
          </a:p>
          <a:p xmlns:a="http://schemas.openxmlformats.org/drawingml/2006/main">
            <a:pPr algn="l">
              <a:defRPr sz="1050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• structured-latent normalization</a:t>
            </a:r>
          </a:p>
          <a:p xmlns:a="http://schemas.openxmlformats.org/drawingml/2006/main">
            <a:pPr algn="l">
              <a:defRPr sz="1050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• decoder topology / checkpoint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A71D2A-2ADA-4010-AC0F-CC16A45C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67000"/>
            <a:ext cx="30861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D4315F-010F-4CA0-AE39-7BBFFE85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7813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8761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F8761"/>
                </a:solidFill>
                <a:latin typeface="Arial"/>
                <a:ea typeface="Arial"/>
                <a:cs typeface="Arial"/>
              </a:rPr>
              <a:t>LEARNING STATUS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8E41BA-9EB8-40C6-ABF8-B81F0BAB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067050"/>
            <a:ext cx="27051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• decoder weights 不进 optimizer</a:t>
            </a:r>
          </a:p>
          <a:p xmlns:a="http://schemas.openxmlformats.org/drawingml/2006/main">
            <a:pPr algn="l">
              <a:defRPr sz="1050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• forward 禁止 torch.no_grad()</a:t>
            </a:r>
          </a:p>
          <a:p xmlns:a="http://schemas.openxmlformats.org/drawingml/2006/main">
            <a:pPr algn="l">
              <a:defRPr sz="1050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• 50-step sampler 不直接接训练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F01288-DC41-4D96-9612-E36B8264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91025"/>
            <a:ext cx="6381750" cy="1438275"/>
          </a:xfrm>
          <a:prstGeom xmlns:a="http://schemas.openxmlformats.org/drawingml/2006/main" prst="roundRect">
            <a:avLst>
              <a:gd name="adj" fmla="val 5298"/>
            </a:avLst>
          </a:prstGeom>
          <a:solidFill xmlns:a="http://schemas.openxmlformats.org/drawingml/2006/main">
            <a:srgbClr val="E8F3FB"/>
          </a:solidFill>
          <a:ln xmlns:a="http://schemas.openxmlformats.org/drawingml/2006/main" w="9525">
            <a:solidFill>
              <a:srgbClr val="D96F1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E6DC30-E362-4AEF-8721-C6A105C41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053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96F1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D96F1D"/>
                </a:solidFill>
                <a:latin typeface="Arial"/>
                <a:ea typeface="Arial"/>
                <a:cs typeface="Arial"/>
              </a:rPr>
              <a:t>SUPERVISION / LOSS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FD6243-45B4-4A5B-B0C1-1D15D0A9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791075"/>
            <a:ext cx="600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x0_hat_norm = (1-sigma_min)x_t - (sigma_min+(1-sigma_min)t)v_hat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EB48F3-A234-48CA-90F0-30392E69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25780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这一页的关键边界是 frozen ≠ no-grad：decoder 参数没有梯度，但其计算图仍需把 right loss 传回 x0_hat，再传到 v_hat 和 Stage 2。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890A0F-2CAB-4023-A213-B893E1C56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72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7"/>
          </a:solidFill>
          <a:ln xmlns:a="http://schemas.openxmlformats.org/drawingml/2006/main" w="0">
            <a:solidFill>
              <a:srgbClr val="D5DE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3D1C81-0707-471A-BCB3-AE21EF842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5913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Part 4 · flow_euler.py:31；decoder_gs.py:118 · frozen but differentiable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310AFF-DD5F-48C5-A4FB-ADBEA3D1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913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903351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2C92E6-B392-4E01-A1C7-94E64706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50"/>
          </a:solidFill>
          <a:ln xmlns:a="http://schemas.openxmlformats.org/drawingml/2006/main" w="0">
            <a:solidFill>
              <a:srgbClr val="102E5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22A92C-C28F-4A04-9FE6-70BBADA8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"/>
            <a:ext cx="838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MODULE 05 · FIXED CAMERA CONSUMER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CD5560-2858-4843-AA77-E5BD79D3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90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DCE8F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DCE8F3"/>
                </a:solidFill>
                <a:latin typeface="Arial"/>
                <a:ea typeface="Arial"/>
                <a:cs typeface="Arial"/>
              </a:rPr>
              <a:t>08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8625A4-F638-47BE-B798-65E0DEC8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391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Part 5 · 右相机和 renderer：固定几何，不学习相机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8531F4-AB56-4326-A3A6-295C4BE8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800100"/>
            <a:ext cx="11372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标定的 stereo transform 把左目 E_L 转成右目 E_R；renderer 没有待优化参数，但必须对 Gaussian 输入可微。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7A6A88-AB3B-41BB-A766-90FDD40D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38150"/>
            <a:ext cx="2171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17F78"/>
          </a:solidFill>
          <a:ln xmlns:a="http://schemas.openxmlformats.org/drawingml/2006/main" w="0">
            <a:solidFill>
              <a:srgbClr val="117F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2997ED-8971-4C87-A117-D1FC57AC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5720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DESIGN ONLY · NOT IMPLEMENTED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2E6F41-1BF6-4D7B-B2E3-B906D039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4667250" cy="483870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EA6185-2D4A-4D34-AF04-43752D3C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17F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17F78"/>
                </a:solidFill>
                <a:latin typeface="Arial"/>
                <a:ea typeface="Arial"/>
                <a:cs typeface="Arial"/>
              </a:rPr>
              <a:t>INHERITED DIAGRAM CROP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ba55cb8151432b"/>
          <a:stretch xmlns:a="http://schemas.openxmlformats.org/drawingml/2006/main"/>
        </p:blipFill>
        <p:spPr>
          <a:xfrm xmlns:a="http://schemas.openxmlformats.org/drawingml/2006/main">
            <a:off x="552450" y="2291490"/>
            <a:ext cx="4343400" cy="2703644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B9C09B-28CE-431C-92AE-EBEBE38E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53100"/>
            <a:ext cx="426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 i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 i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从母图复制：fixed right camera → rendered right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BFCD1E-A00A-475E-AC2D-B162A8AF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2382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17F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17F78"/>
                </a:solidFill>
                <a:latin typeface="Arial"/>
                <a:ea typeface="Arial"/>
                <a:cs typeface="Arial"/>
              </a:rPr>
              <a:t>INTERFACE CONTRACT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D6FE7B-7BC7-4540-8E71-DF62D7B7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504950"/>
            <a:ext cx="63817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117F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B6C019-9459-421C-ABFC-EF23B4A8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619250"/>
            <a:ext cx="1854327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17F78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117F78"/>
                </a:solidFill>
                <a:latin typeface="PingFang SC"/>
                <a:ea typeface="PingFang SC"/>
                <a:cs typeface="PingFang SC"/>
              </a:rPr>
              <a:t>输入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2C9043-763B-4AF3-90B0-B6DD0E49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8827" y="1619250"/>
            <a:ext cx="412737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Gaussian list + E_R/K_R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5FCD3E-CB76-4613-BA6D-8597C07A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943100"/>
            <a:ext cx="1854327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17F78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117F78"/>
                </a:solidFill>
                <a:latin typeface="PingFang SC"/>
                <a:ea typeface="PingFang SC"/>
                <a:cs typeface="PingFang SC"/>
              </a:rPr>
              <a:t>输出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B7CCFD-DCD2-499E-AF00-225202E1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8827" y="1943100"/>
            <a:ext cx="412737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I_R_hat = Render(Gaussian, E_R, K_R)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A78F9D-54F7-47A1-A5AD-4B8F078A5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66950"/>
            <a:ext cx="1854327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17F78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117F78"/>
                </a:solidFill>
                <a:latin typeface="PingFang SC"/>
                <a:ea typeface="PingFang SC"/>
                <a:cs typeface="PingFang SC"/>
              </a:rPr>
              <a:t>梯度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5E58EF-6421-4110-B5C9-8747D8B67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8827" y="2266950"/>
            <a:ext cx="412737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F876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2F8761"/>
                </a:solidFill>
                <a:latin typeface="PingFang SC"/>
                <a:ea typeface="PingFang SC"/>
                <a:cs typeface="PingFang SC"/>
              </a:rPr>
              <a:t>相机 metadata 无梯度；renderer 对输入可微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287E14-FA16-4DEB-9D11-8FA54E09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67000"/>
            <a:ext cx="30670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D1DF28-3BCB-4451-AE0C-BBED16F6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813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B78B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B78B5"/>
                </a:solidFill>
                <a:latin typeface="Arial"/>
                <a:ea typeface="Arial"/>
                <a:cs typeface="Arial"/>
              </a:rPr>
              <a:t>KNOWN / UNKNOWN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8675D7-0DC8-4839-B536-AD934FB1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067050"/>
            <a:ext cx="2686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• T_R&lt;-L、E_L、K_R</a:t>
            </a:r>
          </a:p>
          <a:p xmlns:a="http://schemas.openxmlformats.org/drawingml/2006/main">
            <a:pPr algn="l">
              <a:defRPr sz="1050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• world-to-camera convention</a:t>
            </a:r>
          </a:p>
          <a:p xmlns:a="http://schemas.openxmlformats.org/drawingml/2006/main">
            <a:pPr algn="l">
              <a:defRPr sz="1050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• renderer background / resolution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43203E-C8BA-4A25-A120-7F775315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67000"/>
            <a:ext cx="30861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C81CF2-5086-4858-9876-722512F9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7813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4454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44545"/>
                </a:solidFill>
                <a:latin typeface="Arial"/>
                <a:ea typeface="Arial"/>
                <a:cs typeface="Arial"/>
              </a:rPr>
              <a:t>LEARNING STATUS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8396AE-D90C-4C9C-AA30-45079942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067050"/>
            <a:ext cx="27051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• T、K、camera metadata 固定</a:t>
            </a:r>
          </a:p>
          <a:p xmlns:a="http://schemas.openxmlformats.org/drawingml/2006/main">
            <a:pPr algn="l">
              <a:defRPr sz="1050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• 不学习 baseline / metric scale</a:t>
            </a:r>
          </a:p>
          <a:p xmlns:a="http://schemas.openxmlformats.org/drawingml/2006/main">
            <a:pPr algn="l">
              <a:defRPr sz="1050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• renderer 不作为 optimizer 参数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DBDB66-A7FD-4405-AA4D-A493C209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91025"/>
            <a:ext cx="6381750" cy="1438275"/>
          </a:xfrm>
          <a:prstGeom xmlns:a="http://schemas.openxmlformats.org/drawingml/2006/main" prst="roundRect">
            <a:avLst>
              <a:gd name="adj" fmla="val 5298"/>
            </a:avLst>
          </a:prstGeom>
          <a:solidFill xmlns:a="http://schemas.openxmlformats.org/drawingml/2006/main">
            <a:srgbClr val="E8F3FB"/>
          </a:solidFill>
          <a:ln xmlns:a="http://schemas.openxmlformats.org/drawingml/2006/main" w="9525">
            <a:solidFill>
              <a:srgbClr val="117F7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68B4E2-933E-4C6A-BA59-A1FB6BF9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053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17F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17F78"/>
                </a:solidFill>
                <a:latin typeface="Arial"/>
                <a:ea typeface="Arial"/>
                <a:cs typeface="Arial"/>
              </a:rPr>
              <a:t>SUPERVISION / LOSS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9429D4-FFE4-4DD9-B7CB-0E787B02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791075"/>
            <a:ext cx="600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E_R = T_R&lt;-L E_L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2BC2AE-0D5C-4EB5-89E4-C465F5C5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25780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右目 camera 是 fixed renderer control。V1 不把 B=0.25m、baseline norm 或任何 numeric baseline loss 暴露给模型。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72D62E-47ED-49C4-8ABC-971B8235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72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7"/>
          </a:solidFill>
          <a:ln xmlns:a="http://schemas.openxmlformats.org/drawingml/2006/main" w="0">
            <a:solidFill>
              <a:srgbClr val="D5DE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15BD4D-97B5-482A-8510-D2EDBA74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5913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Part 5 · gaussian_render.py:169 · fixed geometry / differentiable consumer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FA80C6-6381-49D9-B27B-60CECB19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913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514656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4F3738-79AD-4802-B3BC-1789F049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50"/>
          </a:solidFill>
          <a:ln xmlns:a="http://schemas.openxmlformats.org/drawingml/2006/main" w="0">
            <a:solidFill>
              <a:srgbClr val="102E5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64A292-A465-4BDA-8ADC-A676C1B99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"/>
            <a:ext cx="838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MODULE 06 · OBJECTIVE / AUTOGRAD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98F3A7-3314-4A9B-96E2-E2961377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90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DCE8F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DCE8F3"/>
                </a:solidFill>
                <a:latin typeface="Arial"/>
                <a:ea typeface="Arial"/>
                <a:cs typeface="Arial"/>
              </a:rPr>
              <a:t>09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0406D8-AC41-4981-859C-B2C2275C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391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Part 6 · loss 和梯度边界：右重建只回到 Stage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431EDE-90D0-4D51-BDEA-0EE23B36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800100"/>
            <a:ext cx="11372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右目 loss 在 valid stereo 且保留左图 condition 的样本上计算，并与原 flow-matching MSE 一次性相加。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6EC6B5-0128-4434-8814-6573788D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38150"/>
            <a:ext cx="2171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17F78"/>
          </a:solidFill>
          <a:ln xmlns:a="http://schemas.openxmlformats.org/drawingml/2006/main" w="0">
            <a:solidFill>
              <a:srgbClr val="117F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BC35EB-C19B-4001-9B94-213E6BEC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5720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DESIGN ONLY · NOT IMPLEMENTED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C98E01-4C7C-41D1-9E29-F921F582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4667250" cy="483870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8E1D7E-5E13-40EF-9A36-04342034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17F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17F78"/>
                </a:solidFill>
                <a:latin typeface="Arial"/>
                <a:ea typeface="Arial"/>
                <a:cs typeface="Arial"/>
              </a:rPr>
              <a:t>INHERITED DIAGRAM CROP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8c4e0256154168"/>
          <a:stretch xmlns:a="http://schemas.openxmlformats.org/drawingml/2006/main"/>
        </p:blipFill>
        <p:spPr>
          <a:xfrm xmlns:a="http://schemas.openxmlformats.org/drawingml/2006/main">
            <a:off x="552450" y="2362703"/>
            <a:ext cx="4343400" cy="2561219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B526AD-6021-4CCB-B93A-F0ED7AD0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53100"/>
            <a:ext cx="426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 i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 i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从母图复制：right-view L1 + LPIPS sink 与 backward boundary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9B4934-109C-46B5-B2B7-76F6696A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2382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17F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17F78"/>
                </a:solidFill>
                <a:latin typeface="Arial"/>
                <a:ea typeface="Arial"/>
                <a:cs typeface="Arial"/>
              </a:rPr>
              <a:t>INTERFACE CONTRACT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66C702-D57F-41F1-9057-593C98B3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504950"/>
            <a:ext cx="63817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117F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BCCD5A-9E49-40F0-BB51-897DEE7F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619250"/>
            <a:ext cx="1854327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17F78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117F78"/>
                </a:solidFill>
                <a:latin typeface="PingFang SC"/>
                <a:ea typeface="PingFang SC"/>
                <a:cs typeface="PingFang SC"/>
              </a:rPr>
              <a:t>输入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90E340-C0B2-45B6-B8CF-9736C79A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8827" y="1619250"/>
            <a:ext cx="412737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I_R_hat, I_R_gt, stereo_valid, cfg_conditioned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C1B872-C520-47BF-B9FC-E00EF283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943100"/>
            <a:ext cx="1854327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17F78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117F78"/>
                </a:solidFill>
                <a:latin typeface="PingFang SC"/>
                <a:ea typeface="PingFang SC"/>
                <a:cs typeface="PingFang SC"/>
              </a:rPr>
              <a:t>输出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31E5AD-44A2-4297-8C1A-A62C1B18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8827" y="1943100"/>
            <a:ext cx="412737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scalar L_total → one backward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1E6E21-33DB-4BA0-BAF4-F0049224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66950"/>
            <a:ext cx="1854327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17F78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117F78"/>
                </a:solidFill>
                <a:latin typeface="PingFang SC"/>
                <a:ea typeface="PingFang SC"/>
                <a:cs typeface="PingFang SC"/>
              </a:rPr>
              <a:t>梯度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655932-0C4C-4211-A6D9-30A7FC08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8827" y="2266950"/>
            <a:ext cx="412737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F876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2F8761"/>
                </a:solidFill>
                <a:latin typeface="PingFang SC"/>
                <a:ea typeface="PingFang SC"/>
                <a:cs typeface="PingFang SC"/>
              </a:rPr>
              <a:t>L_right → ... → v_hat → Stage 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9D55D3-0AE5-4F7B-AB94-CF228C0F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67000"/>
            <a:ext cx="30670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0C4441-D331-41B2-9618-0FFC38298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813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B78B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B78B5"/>
                </a:solidFill>
                <a:latin typeface="Arial"/>
                <a:ea typeface="Arial"/>
                <a:cs typeface="Arial"/>
              </a:rPr>
              <a:t>KNOWN / UNKNOWN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66A9B4-EFEB-40CC-8CD8-CE81AEFB3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067050"/>
            <a:ext cx="2686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• lambda_lpips = 0.2 (沿用 VAE family)</a:t>
            </a:r>
          </a:p>
          <a:p xmlns:a="http://schemas.openxmlformats.org/drawingml/2006/main">
            <a:pPr algn="l">
              <a:defRPr sz="1050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• lambda_right 需预注册</a:t>
            </a:r>
          </a:p>
          <a:p xmlns:a="http://schemas.openxmlformats.org/drawingml/2006/main">
            <a:pPr algn="l">
              <a:defRPr sz="1050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• mask = stereo_valid ∧ cfg_conditioned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617ED3-0839-4421-BB9B-D64CD2C1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67000"/>
            <a:ext cx="30861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E74B23-7A9B-4BDA-A76C-D5C042D0D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7813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4454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44545"/>
                </a:solidFill>
                <a:latin typeface="Arial"/>
                <a:ea typeface="Arial"/>
                <a:cs typeface="Arial"/>
              </a:rPr>
              <a:t>LEARNING STATUS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B9A2EA-DA28-49A6-9578-36C5EA8F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067050"/>
            <a:ext cx="27051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• LPIPS/VGG 参数冻结</a:t>
            </a:r>
          </a:p>
          <a:p xmlns:a="http://schemas.openxmlformats.org/drawingml/2006/main">
            <a:pPr algn="l">
              <a:defRPr sz="1050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• target / mask / camera 不更新</a:t>
            </a:r>
          </a:p>
          <a:p xmlns:a="http://schemas.openxmlformats.org/drawingml/2006/main">
            <a:pPr algn="l">
              <a:defRPr sz="1050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• NaN、空 valid batch、恒定 render 是 hard fail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6DE7F6-A1A4-46EC-9C24-DE43D8A2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91025"/>
            <a:ext cx="6381750" cy="1438275"/>
          </a:xfrm>
          <a:prstGeom xmlns:a="http://schemas.openxmlformats.org/drawingml/2006/main" prst="roundRect">
            <a:avLst>
              <a:gd name="adj" fmla="val 5298"/>
            </a:avLst>
          </a:prstGeom>
          <a:solidFill xmlns:a="http://schemas.openxmlformats.org/drawingml/2006/main">
            <a:srgbClr val="E8F3FB"/>
          </a:solidFill>
          <a:ln xmlns:a="http://schemas.openxmlformats.org/drawingml/2006/main" w="9525">
            <a:solidFill>
              <a:srgbClr val="117F7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0D8A40-7623-4946-B2F1-E6408313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053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17F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17F78"/>
                </a:solidFill>
                <a:latin typeface="Arial"/>
                <a:ea typeface="Arial"/>
                <a:cs typeface="Arial"/>
              </a:rPr>
              <a:t>SUPERVISION / LOSS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F744A3-4F27-4F24-B66C-D3D7729F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791075"/>
            <a:ext cx="600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L_right = mean_valid [ L1(I_R_hat,I_R_gt) + 0.2·LPIPS(I_R_hat,I_R_gt) ]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611316-83A6-4304-9B36-94277689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25780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反传链：loss → render → frozen decode operations → x0_hat → v_hat → Stage 2 denoiser。明确禁止进入 Stage 1、DINOv2、decoder 参数和 camera metadata。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86D741-C997-4192-93D5-7FA98995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72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7"/>
          </a:solidFill>
          <a:ln xmlns:a="http://schemas.openxmlformats.org/drawingml/2006/main" w="0">
            <a:solidFill>
              <a:srgbClr val="D5DE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2B97B1-B4A4-4984-9466-EE7F7FF1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5913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Part 6 · structured_latent_vae_gaussian.py:169–172；basic.py:442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004E06-1BFE-4FFD-918D-0FB155CF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913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996244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2A5B87-7E10-44DD-ACE4-172F3CF5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50"/>
          </a:solidFill>
          <a:ln xmlns:a="http://schemas.openxmlformats.org/drawingml/2006/main" w="0">
            <a:solidFill>
              <a:srgbClr val="102E5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589BBE-0DEA-49EC-B256-632F89FA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"/>
            <a:ext cx="838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CUPID V1 · target distribution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7145FB-F974-4BA1-B93B-FAB047875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90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DCE8F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DCE8F3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1A92CD-5BFD-4378-9494-88AB82C6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391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训练目标：让 latent 具备跨视角可渲染性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0D04A2-0E23-490B-A7A6-CEA8C54B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800100"/>
            <a:ext cx="11372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V1 约束的是现有 Stage 2 的生成分布，而不是把相机、尺度或新的 3D 表示头一起学出来。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E897A8-8B0B-4B25-BE1B-E196C7A1F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712470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102E50"/>
          </a:solidFill>
          <a:ln xmlns:a="http://schemas.openxmlformats.org/drawingml/2006/main" w="0">
            <a:solidFill>
              <a:srgbClr val="102E5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0A6681-72E6-43EF-8F2B-0DAE594D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BD5E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BBD5E8"/>
                </a:solidFill>
                <a:latin typeface="PingFang SC"/>
                <a:ea typeface="PingFang SC"/>
                <a:cs typeface="PingFang SC"/>
              </a:rPr>
              <a:t>目标分布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9A2048-A43A-4771-85E5-CA8AC5C2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628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pθ(z | I_L, sparse structure, E_L)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A38CB9-55AA-4DF5-BEB2-BE86662F6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DDEAF4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i="0">
                <a:solidFill>
                  <a:srgbClr val="DDEAF4"/>
                </a:solidFill>
                <a:latin typeface="PingFang SC"/>
                <a:ea typeface="PingFang SC"/>
                <a:cs typeface="PingFang SC"/>
              </a:rPr>
              <a:t>同一个 z 在 frozen decoder 与 fixed right camera 下，应能重建同步右图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0ED1CD-9662-4211-9212-85E0E00F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628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7CD5C9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7CD5C9"/>
                </a:solidFill>
                <a:latin typeface="Arial"/>
                <a:ea typeface="Arial"/>
                <a:cs typeface="Arial"/>
              </a:rPr>
              <a:t>Render(Decoder(z), E_R, K_R) ≈ I_R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E6384C-5010-4841-AF83-BD57F4C3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617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6D8B"/>
          </a:solidFill>
          <a:ln xmlns:a="http://schemas.openxmlformats.org/drawingml/2006/main" w="0">
            <a:solidFill>
              <a:srgbClr val="4B6D8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1E2E8A-AC66-4B8C-8A0D-E472CE27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619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期待性质：cross-view renderability</a:t>
            </a:r>
          </a:p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不是直接的 pose accuracy、metric scale 或真实 3D 保证。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E8EF34-4027-46D8-813F-142EAE16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257300"/>
            <a:ext cx="3810000" cy="447675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AA02F0-949E-40CC-B6B3-8E5BAED2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4763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17F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17F78"/>
                </a:solidFill>
                <a:latin typeface="Arial"/>
                <a:ea typeface="Arial"/>
                <a:cs typeface="Arial"/>
              </a:rPr>
              <a:t>WHAT WOULD COUNT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F8CA1D-1310-4CA4-A364-4F5D3E92D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43100"/>
            <a:ext cx="33147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117F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7EB1B0-D4A1-4E05-94EC-8FBE3C3E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383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17F7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117F78"/>
                </a:solidFill>
                <a:latin typeface="PingFang SC"/>
                <a:ea typeface="PingFang SC"/>
                <a:cs typeface="PingFang SC"/>
              </a:rPr>
              <a:t>表示结构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F61D1E-2026-438D-B64C-630B81BD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288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latent 保留可跨视角解释的几何与外观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24A12F-AD6D-46F8-9E6E-E7E6F09E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62250"/>
            <a:ext cx="33147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2B78B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F21D6E-C18A-4430-A9A9-B69B6A2B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57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B78B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2B78B5"/>
                </a:solidFill>
                <a:latin typeface="PingFang SC"/>
                <a:ea typeface="PingFang SC"/>
                <a:cs typeface="PingFang SC"/>
              </a:rPr>
              <a:t>主要指标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9FACB1-290D-4A01-B62C-E4A61C15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4797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valid-pair right-view L1 / LPIPS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B64FE2-B529-4787-BFEE-E4734292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81400"/>
            <a:ext cx="33147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96F1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A9063E-9095-43E8-80CB-DE6BECB4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766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D96F1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D96F1D"/>
                </a:solidFill>
                <a:latin typeface="PingFang SC"/>
                <a:ea typeface="PingFang SC"/>
                <a:cs typeface="PingFang SC"/>
              </a:rPr>
              <a:t>护栏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7136FE-266C-45B6-AE41-8CDC9767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6671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flow MSE、原 CUPID evaluator、finite rate、gradient non-zero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85E0E4-3A72-494A-8A75-D7340016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400550"/>
            <a:ext cx="33147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C4454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800344-B0D1-48B1-A6BC-F4447F2F8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958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4454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C44545"/>
                </a:solidFill>
                <a:latin typeface="PingFang SC"/>
                <a:ea typeface="PingFang SC"/>
                <a:cs typeface="PingFang SC"/>
              </a:rPr>
              <a:t>不能外推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AD20F2-D3FB-4F93-8215-4C2721CE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8627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metric scale、pose 更准、真实 3D、通用 representation 一定变好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1703BF-820D-45EA-B41B-6F553C17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72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7"/>
          </a:solidFill>
          <a:ln xmlns:a="http://schemas.openxmlformats.org/drawingml/2006/main" w="0">
            <a:solidFill>
              <a:srgbClr val="D5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5F20C2-F5F6-4DDA-913B-A67329C3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5913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V1 的可证伪命题：right-view renderability 是否提升，并且所有 guards 通过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9BD58A-956D-49AA-9867-5D68041E2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913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3755378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E0DB84-9EF0-412D-A41C-F0BCE8A3D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50"/>
          </a:solidFill>
          <a:ln xmlns:a="http://schemas.openxmlformats.org/drawingml/2006/main" w="0">
            <a:solidFill>
              <a:srgbClr val="102E5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F12502-2CB5-4CEF-A9B0-61B1F1093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"/>
            <a:ext cx="838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CUPID V1 · evaluation gate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D915B3-28CA-4982-987F-64DD01ED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90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DCE8F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DCE8F3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E4A0DD-6CC9-40EA-BA98-1A8F3B60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391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验收条件：先过工程与梯度，再谈科学结果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6031D6-13A8-493E-9024-68B623A2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800100"/>
            <a:ext cx="11372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baseline 与 treatment 必须 matched；结果页不能把 smoke、pending 或失败路径写成模型质量结论。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7D8825-B142-4A80-BD39-DD1994C9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34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9525">
            <a:solidFill>
              <a:srgbClr val="A9681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65CB70-34C5-48B3-A95F-79239565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1047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9681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A96816"/>
                </a:solidFill>
                <a:latin typeface="PingFang SC"/>
                <a:ea typeface="PingFang SC"/>
                <a:cs typeface="PingFang SC"/>
              </a:rPr>
              <a:t>比较合同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492409-F88B-4847-B371-E6075D2A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3906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同一 checkpoint / split / seed / budget；baseline = lambda_right 0，treatment = 一个预注册正值。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4C28E7-A20A-4D9A-99E7-05BC26724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361950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19050">
            <a:solidFill>
              <a:srgbClr val="2F876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0D508E-A3F3-47E1-B8B5-B82994640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F876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F8761"/>
                </a:solidFill>
                <a:latin typeface="Arial"/>
                <a:ea typeface="Arial"/>
                <a:cs typeface="Arial"/>
              </a:rPr>
              <a:t>SUCCESS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CACC0D-0B18-49E5-BD42-2099726D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31813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right-view L1 / LPIPS 优于 matched control</a:t>
            </a:r>
          </a:p>
          <a:p xmlns:a="http://schemas.openxmlformats.org/drawingml/2006/main">
            <a:pPr algn="l">
              <a:defRPr sz="1200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且 flow MSE、原 evaluator、finite rate、coverage、gradient guards 全通过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65A9D3-4EC3-4029-BEA7-3DD3BAF9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3181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761"/>
          </a:solidFill>
          <a:ln xmlns:a="http://schemas.openxmlformats.org/drawingml/2006/main" w="0">
            <a:solidFill>
              <a:srgbClr val="2F876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462DAA-ED41-46F9-8DF4-F1089EE0D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3181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F876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2F8761"/>
                </a:solidFill>
                <a:latin typeface="PingFang SC"/>
                <a:ea typeface="PingFang SC"/>
                <a:cs typeface="PingFang SC"/>
              </a:rPr>
              <a:t>可以进入下一 Gate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474D4F-C415-4001-BFA3-821C43FC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190750"/>
            <a:ext cx="361950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19050">
            <a:solidFill>
              <a:srgbClr val="A9681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8123B6-D885-4580-8456-9EB461DB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4003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A9681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A96816"/>
                </a:solidFill>
                <a:latin typeface="Arial"/>
                <a:ea typeface="Arial"/>
                <a:cs typeface="Arial"/>
              </a:rPr>
              <a:t>NEUTRAL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1B773D-EA34-48FD-94C2-E4638BA0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819400"/>
            <a:ext cx="31813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右目指标无改善，但原路径与 guards 不退化</a:t>
            </a:r>
          </a:p>
          <a:p xmlns:a="http://schemas.openxmlformats.org/drawingml/2006/main">
            <a:pPr algn="l">
              <a:defRPr sz="1200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说明该最小监督不足，不证明假设错误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987A1F-D68C-4492-9D67-1DD795CC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000500"/>
            <a:ext cx="3181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6816"/>
          </a:solidFill>
          <a:ln xmlns:a="http://schemas.openxmlformats.org/drawingml/2006/main" w="0">
            <a:solidFill>
              <a:srgbClr val="A9681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B80886-6C22-4736-958F-3BA0E638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162425"/>
            <a:ext cx="3181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96816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A96816"/>
                </a:solidFill>
                <a:latin typeface="PingFang SC"/>
                <a:ea typeface="PingFang SC"/>
                <a:cs typeface="PingFang SC"/>
              </a:rPr>
              <a:t>保留结果，换 successor hypothesis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9F6D2D-DDE2-4106-A91E-4D0282F4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90750"/>
            <a:ext cx="361950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9050">
            <a:solidFill>
              <a:srgbClr val="C4454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A8D0C9-826B-4713-89DF-AC54B081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003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C4454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44545"/>
                </a:solidFill>
                <a:latin typeface="Arial"/>
                <a:ea typeface="Arial"/>
                <a:cs typeface="Arial"/>
              </a:rPr>
              <a:t>FAILURE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8B869F-F832-4E51-989B-8DAAB2D0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19400"/>
            <a:ext cx="31813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无梯度、恒定 render、NaN/Inf、empty valid batch</a:t>
            </a:r>
          </a:p>
          <a:p xmlns:a="http://schemas.openxmlformats.org/drawingml/2006/main">
            <a:pPr algn="l">
              <a:defRPr sz="1200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或左目/原指标回退，均属于 hard failure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061C65-681B-463C-BCA0-3CA98C83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00500"/>
            <a:ext cx="3181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45"/>
          </a:solidFill>
          <a:ln xmlns:a="http://schemas.openxmlformats.org/drawingml/2006/main" w="0">
            <a:solidFill>
              <a:srgbClr val="C4454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227B04-1C9A-40C2-9A1C-8E9F5940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162425"/>
            <a:ext cx="3181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4454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C44545"/>
                </a:solidFill>
                <a:latin typeface="PingFang SC"/>
                <a:ea typeface="PingFang SC"/>
                <a:cs typeface="PingFang SC"/>
              </a:rPr>
              <a:t>先修实现，不调参掩盖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4A3572-194D-4D82-9C3A-445418F0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62550"/>
            <a:ext cx="11334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8F3FB"/>
          </a:solidFill>
          <a:ln xmlns:a="http://schemas.openxmlformats.org/drawingml/2006/main" w="9525">
            <a:solidFill>
              <a:srgbClr val="2B78B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DE5C97-1418-49AD-999F-0F8B3EB3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3400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B78B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2B78B5"/>
                </a:solidFill>
                <a:latin typeface="PingFang SC"/>
                <a:ea typeface="PingFang SC"/>
                <a:cs typeface="PingFang SC"/>
              </a:rPr>
              <a:t>Primary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B035BF-5181-4181-BB98-207D97965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30542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valid-pair right-view L1 / LPIPS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69558E-E226-400B-AA7D-EEC0F61E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33400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B78B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2B78B5"/>
                </a:solidFill>
                <a:latin typeface="PingFang SC"/>
                <a:ea typeface="PingFang SC"/>
                <a:cs typeface="PingFang SC"/>
              </a:rPr>
              <a:t>Guards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AACA67-3500-437E-9C57-3B39007C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286375"/>
            <a:ext cx="595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原 flow MSE · 原 CUPID 指标 · finite / non-constant render · coverage · gradient-to-denoiser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10A8DA-6E41-444D-95F3-CC60597C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72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7"/>
          </a:solidFill>
          <a:ln xmlns:a="http://schemas.openxmlformats.org/drawingml/2006/main" w="0">
            <a:solidFill>
              <a:srgbClr val="D5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A3129C-F143-40A3-8FE2-ACD99A13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5913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只有 matched treatment + held-out evaluation 完成后，才可写成 scientific result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33C7FC-FD4E-4E1A-8ACA-96B918584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913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971160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6A5BC2A-130E-46EF-AF9A-9B540049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50"/>
          </a:solidFill>
          <a:ln xmlns:a="http://schemas.openxmlformats.org/drawingml/2006/main" w="0">
            <a:solidFill>
              <a:srgbClr val="102E5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BA12A9-8517-4414-B12E-8CA892CB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"/>
            <a:ext cx="838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CUPID V1 · readiness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0A7594-AFE6-4CA6-A46B-4761A81BB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90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DCE8F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DCE8F3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0E98A8-5F9E-4B85-8223-35A15292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391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当前缺口：0/5 实现，距离 Gate 还差什么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034857-F9C7-4E17-90C1-D2870BCA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800100"/>
            <a:ext cx="11372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现在能审阅的是设计与接口，不是训练结果；下一步必须逐项关闭数据、autograd、配置和 cluster 验收。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7C9536-51D3-4AAC-938F-7DBA6059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38150"/>
            <a:ext cx="1714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44545"/>
          </a:solidFill>
          <a:ln xmlns:a="http://schemas.openxmlformats.org/drawingml/2006/main" w="0">
            <a:solidFill>
              <a:srgbClr val="C4454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29E65B-2715-4E23-BDEF-0540AA8C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72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NOT USER-APPROVED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821242-7CED-451D-8E17-5C47FA18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14450"/>
            <a:ext cx="11144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B78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BE8E9D-179D-4CE8-9D3F-FE79F924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B78B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B78B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B3953F-36FC-4CA9-8E83-6BD855D2D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409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paired data carrier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372C56-F313-459B-BDDA-8EC33BBA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409700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同实例同时间左右图、T_R&lt;-L、K_R、alpha、stereo_valid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6B4BE1-4C3B-4C60-92AC-A1505727A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495425"/>
            <a:ext cx="8953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44545"/>
          </a:solidFill>
          <a:ln xmlns:a="http://schemas.openxmlformats.org/drawingml/2006/main" w="0">
            <a:solidFill>
              <a:srgbClr val="C445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BBB374-101B-46B9-917B-688B0334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514475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未实现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698088-1C43-4B03-9D47-80230BA5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11144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6F1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12BF34-7695-47BC-AF5B-548B6D17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D96F1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D96F1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B6BA25-BBA1-4498-9638-28F9F3E1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907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trainer variant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FC5A12-E3D0-4B0F-8A05-E3C67E53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90750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在 flow MSE 后插入 one-step x0_hat 分支，不触碰 pipeline.run()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0DD04A-282D-4B16-971B-E448A76B9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76475"/>
            <a:ext cx="8953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44545"/>
          </a:solidFill>
          <a:ln xmlns:a="http://schemas.openxmlformats.org/drawingml/2006/main" w="0">
            <a:solidFill>
              <a:srgbClr val="C4454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A11DB5-368A-46C0-A458-13DA505E4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295525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未实现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D05969-B104-437D-AD56-3FE49165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76550"/>
            <a:ext cx="11144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7F7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8F8823-AE3F-4E59-91C2-ABAED3E8D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7F7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7F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A871D9-BD45-4E32-A055-29414500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718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frozen consumer path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657D2F-8B05-4B76-A3B3-4DDFF567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71800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decoder eval + differentiable Gaussian render + backward smoke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C1AEFB-C261-4167-8158-79B23B3C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057525"/>
            <a:ext cx="8953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44545"/>
          </a:solidFill>
          <a:ln xmlns:a="http://schemas.openxmlformats.org/drawingml/2006/main" w="0">
            <a:solidFill>
              <a:srgbClr val="C4454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3E275E-8A71-4DF9-AD88-B07193D8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76575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未实现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C86C3D-4848-4529-86D5-02610CFD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57600"/>
            <a:ext cx="11144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7F7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E9DF16-A19D-44FB-9481-522439599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952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7F7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7F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8AF85A-26C8-44FF-8258-D668458E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528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loss / CFG / logs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B94740-6B6B-4007-A914-1ADF047D5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52850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lambda_right、valid mask、cfg_conditioned、梯度与 finite logging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DC9068-CA52-40FD-888F-1F80D4DA3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838575"/>
            <a:ext cx="8953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44545"/>
          </a:solidFill>
          <a:ln xmlns:a="http://schemas.openxmlformats.org/drawingml/2006/main" w="0">
            <a:solidFill>
              <a:srgbClr val="C4454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4ABE68-0219-4433-A00D-76DC21C65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57625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未实现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6B6FB3-0868-4045-9285-A269E8BB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38650"/>
            <a:ext cx="11144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681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934DDF-B66B-4564-8FCE-71B968755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0057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9681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A9681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2B693F3-576B-4580-914A-BCB5B2E4D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33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1E293B"/>
                </a:solidFill>
                <a:latin typeface="PingFang SC"/>
                <a:ea typeface="PingFang SC"/>
                <a:cs typeface="PingFang SC"/>
              </a:rPr>
              <a:t>matched cluster gate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116BCE-7824-4B0E-AD1A-A9BD7920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33900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专用 config、baseline/treatment、Slurm smoke、held-out eval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A066AA-81DE-4F4A-8477-4DE2F32F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619625"/>
            <a:ext cx="8953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44545"/>
          </a:solidFill>
          <a:ln xmlns:a="http://schemas.openxmlformats.org/drawingml/2006/main" w="0">
            <a:solidFill>
              <a:srgbClr val="C4454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F6CB9C9-8E21-487E-91C2-97CA59F3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638675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未实现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EA96DBE-1C37-47E4-8855-354B8BCC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91150"/>
            <a:ext cx="11144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2E50"/>
          </a:solidFill>
          <a:ln xmlns:a="http://schemas.openxmlformats.org/drawingml/2006/main" w="0">
            <a:solidFill>
              <a:srgbClr val="102E5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3D53F5C-DEE7-47E4-804B-8F6E23CA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435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BD5E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BBD5E8"/>
                </a:solidFill>
                <a:latin typeface="PingFang SC"/>
                <a:ea typeface="PingFang SC"/>
                <a:cs typeface="PingFang SC"/>
              </a:rPr>
              <a:t>进入实现前的冻结项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34FF6B7-D40D-46C2-8E4A-300BA009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5054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lambda_right · pair inventory · camera convention · matched control · finite / gradient checks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9D36879-4E83-4D46-8D1D-105D31FC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72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7"/>
          </a:solidFill>
          <a:ln xmlns:a="http://schemas.openxmlformats.org/drawingml/2006/main" w="0">
            <a:solidFill>
              <a:srgbClr val="D5DE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66E75A8-72BB-47A8-8ACB-A3A2704CE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5913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下一步：先实现并验证最窄 branch，再决定是否进入 successor Gate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6634AA4-CE74-4280-9D08-71FEB253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913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765631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2026-09-09T16:05:24.8840000Z</dcterms:created>
  <dcterms:modified xsi:type="dcterms:W3CDTF">2026-09-09T16:05:24.8840000Z</dcterms:modified>
</coreProperties>
</file>