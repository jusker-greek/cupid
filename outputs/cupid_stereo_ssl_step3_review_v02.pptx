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91d0f1411c4547" /><Relationship Type="http://schemas.openxmlformats.org/officeDocument/2006/relationships/extended-properties" Target="/docProps/app.xml" Id="R1db5fd404dc546e1" /><Relationship Type="http://schemas.openxmlformats.org/officeDocument/2006/relationships/officeDocument" Target="/ppt/presentation.xml" Id="R5e6df1c8c6be4f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483d66d65543aa"/>
  </p:sldMasterIdLst>
  <p:notesMasterIdLst>
    <p:notesMasterId xmlns:r="http://schemas.openxmlformats.org/officeDocument/2006/relationships" r:id="Rac2adb837dd244b6"/>
  </p:notesMasterIdLst>
  <p:sldIdLst>
    <p:sldId xmlns:r="http://schemas.openxmlformats.org/officeDocument/2006/relationships" id="256" r:id="R3c8eafa559dd4ace"/>
    <p:sldId xmlns:r="http://schemas.openxmlformats.org/officeDocument/2006/relationships" id="257" r:id="R41f7943d812843a7"/>
    <p:sldId xmlns:r="http://schemas.openxmlformats.org/officeDocument/2006/relationships" id="258" r:id="R803a4fd509d24433"/>
    <p:sldId xmlns:r="http://schemas.openxmlformats.org/officeDocument/2006/relationships" id="259" r:id="Rf0106d33ae104777"/>
    <p:sldId xmlns:r="http://schemas.openxmlformats.org/officeDocument/2006/relationships" id="260" r:id="R8d65fc1f682440c5"/>
    <p:sldId xmlns:r="http://schemas.openxmlformats.org/officeDocument/2006/relationships" id="261" r:id="R8331651fd4de4be9"/>
    <p:sldId xmlns:r="http://schemas.openxmlformats.org/officeDocument/2006/relationships" id="262" r:id="R5f20f2a337eb4f31"/>
    <p:sldId xmlns:r="http://schemas.openxmlformats.org/officeDocument/2006/relationships" id="263" r:id="R5591c5bbe6344c23"/>
    <p:sldId xmlns:r="http://schemas.openxmlformats.org/officeDocument/2006/relationships" id="264" r:id="R085d57a5067443c0"/>
    <p:sldId xmlns:r="http://schemas.openxmlformats.org/officeDocument/2006/relationships" id="265" r:id="R61fb6b5fab7f4c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d671a2630f4032" /><Relationship Type="http://schemas.openxmlformats.org/officeDocument/2006/relationships/slideMaster" Target="/ppt/slideMasters/slideMaster1.xml" Id="Rec483d66d65543aa" /><Relationship Type="http://schemas.openxmlformats.org/officeDocument/2006/relationships/notesMaster" Target="/ppt/notesMasters/notesMaster1.xml" Id="Rac2adb837dd244b6" /><Relationship Type="http://schemas.openxmlformats.org/officeDocument/2006/relationships/presProps" Target="/ppt/presProps.xml" Id="R2e546bb9f2134e19" /><Relationship Type="http://schemas.openxmlformats.org/officeDocument/2006/relationships/tableStyles" Target="/ppt/tableStyles.xml" Id="R421c406e8bcb4505" /><Relationship Type="http://schemas.openxmlformats.org/officeDocument/2006/relationships/slide" Target="/ppt/slides/slide1.xml" Id="R3c8eafa559dd4ace" /><Relationship Type="http://schemas.openxmlformats.org/officeDocument/2006/relationships/slide" Target="/ppt/slides/slide2.xml" Id="R41f7943d812843a7" /><Relationship Type="http://schemas.openxmlformats.org/officeDocument/2006/relationships/slide" Target="/ppt/slides/slide3.xml" Id="R803a4fd509d24433" /><Relationship Type="http://schemas.openxmlformats.org/officeDocument/2006/relationships/slide" Target="/ppt/slides/slide4.xml" Id="Rf0106d33ae104777" /><Relationship Type="http://schemas.openxmlformats.org/officeDocument/2006/relationships/slide" Target="/ppt/slides/slide5.xml" Id="R8d65fc1f682440c5" /><Relationship Type="http://schemas.openxmlformats.org/officeDocument/2006/relationships/slide" Target="/ppt/slides/slide6.xml" Id="R8331651fd4de4be9" /><Relationship Type="http://schemas.openxmlformats.org/officeDocument/2006/relationships/slide" Target="/ppt/slides/slide7.xml" Id="R5f20f2a337eb4f31" /><Relationship Type="http://schemas.openxmlformats.org/officeDocument/2006/relationships/slide" Target="/ppt/slides/slide8.xml" Id="R5591c5bbe6344c23" /><Relationship Type="http://schemas.openxmlformats.org/officeDocument/2006/relationships/slide" Target="/ppt/slides/slide9.xml" Id="R085d57a5067443c0" /><Relationship Type="http://schemas.openxmlformats.org/officeDocument/2006/relationships/slide" Target="/ppt/slides/slide10.xml" Id="R61fb6b5fab7f4c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1fe987b6a44f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cd652bac984e55" /><Relationship Type="http://schemas.openxmlformats.org/officeDocument/2006/relationships/notesMaster" Target="/ppt/notesMasters/notesMaster1.xml" Id="Rcb3185ced8b54e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86526524114a6b" /><Relationship Type="http://schemas.openxmlformats.org/officeDocument/2006/relationships/notesMaster" Target="/ppt/notesMasters/notesMaster1.xml" Id="R281868bbf0c74c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1c144c21af460a" /><Relationship Type="http://schemas.openxmlformats.org/officeDocument/2006/relationships/notesMaster" Target="/ppt/notesMasters/notesMaster1.xml" Id="Rc69e54431fac4a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20f02a4e884157" /><Relationship Type="http://schemas.openxmlformats.org/officeDocument/2006/relationships/notesMaster" Target="/ppt/notesMasters/notesMaster1.xml" Id="Rddc9cd40ec5647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085bf6e0ee46e1" /><Relationship Type="http://schemas.openxmlformats.org/officeDocument/2006/relationships/notesMaster" Target="/ppt/notesMasters/notesMaster1.xml" Id="Re0b4ac6d23364a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192b5e8a0b4717" /><Relationship Type="http://schemas.openxmlformats.org/officeDocument/2006/relationships/notesMaster" Target="/ppt/notesMasters/notesMaster1.xml" Id="Rd015292f7ed343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cbc26250c34e74" /><Relationship Type="http://schemas.openxmlformats.org/officeDocument/2006/relationships/notesMaster" Target="/ppt/notesMasters/notesMaster1.xml" Id="R8f7d9a382fc844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85388f65374bbd" /><Relationship Type="http://schemas.openxmlformats.org/officeDocument/2006/relationships/notesMaster" Target="/ppt/notesMasters/notesMaster1.xml" Id="Rb8dffa9ae18647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dd3ea3321844d4" /><Relationship Type="http://schemas.openxmlformats.org/officeDocument/2006/relationships/notesMaster" Target="/ppt/notesMasters/notesMaster1.xml" Id="Rc5528c32726243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1bbc8147af4604" /><Relationship Type="http://schemas.openxmlformats.org/officeDocument/2006/relationships/notesMaster" Target="/ppt/notesMasters/notesMaster1.xml" Id="R82f2e5ea32bb4e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 idea-first review deck，不是实验结果。核心目标来自用户确认：双目互监督持续改善 representation/distribution。</a:t>
            </a:r>
          </a:p>
          <a:p xmlns:a="http://schemas.openxmlformats.org/drawingml/2006/main">
            <a:r>
              <a:t>图中 Stage 2 student、frozen GS render 和 right observation loss 是设计候选，不代表已实现或已训练。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/Users/ruikegu/.codex/worktrees/c27f/Cupid/docs/CUPID_STEREO_SSL_RESEARCH_CORE.md §0, §11.4-11.6.</a:t>
            </a:r>
          </a:p>
          <a:p xmlns:a="http://schemas.openxmlformats.org/drawingml/2006/main">
            <a:r>
              <a:t>- /Users/ruikegu/.codex/worktrees/c27f/Cupid/outputs/figures/cupid_stereo_ssl_explanation_pipeline_v01.drawio (editable integration candidate).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这张图是现有 CUPID baseline 的母图。新增方案只允许从这里局部增量，不独立重画原始主干。</a:t>
            </a:r>
          </a:p>
          <a:p xmlns:a="http://schemas.openxmlformats.org/drawingml/2006/main">
            <a:r>
              <a:t>Baseline 的 Stage 1 预测 coarse structure / UV 与 pose；Stage 2 生成 fine structured latent；decoder 输出 Gaussian / mesh / RF。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/Users/ruikegu/.codex/worktrees/c27f/Cupid/outputs/figures/cupid_stereo_ssl_explanation_mother_v01.drawio (editable baseline candidate).</a:t>
            </a:r>
          </a:p>
          <a:p xmlns:a="http://schemas.openxmlformats.org/drawingml/2006/main">
            <a:r>
              <a:t>- /Users/ruikegu/.codex/worktrees/c27f/Cupid/docs/CUPID_STEREO_SSL_RESEARCH_CORE.md §5, §10.</a:t>
            </a:r>
          </a:p>
          <a:p xmlns:a="http://schemas.openxmlformats.org/drawingml/2006/main">
            <a:r>
              <a:t>- CUPID code anchors: cupid/pipelines/pipeline.py:217, 266, 305, 312; cupid/models/structured_latent_vae/decoder_gs.py:118-123.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四个候选接入点对应核心文档 §11.2。首 Gate 只能选择一个科学变量。</a:t>
            </a:r>
          </a:p>
          <a:p xmlns:a="http://schemas.openxmlformats.org/drawingml/2006/main">
            <a:r>
              <a:t>Stage 2 直接承载 z_slat fine geometry/appearance representation 及其 conditional distribution，因此与用户确认的研究对象最接近。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/Users/ruikegu/.codex/worktrees/c27f/Cupid/docs/CUPID_STEREO_SSL_RESEARCH_CORE.md §11.1-11.3.</a:t>
            </a:r>
          </a:p>
          <a:p xmlns:a="http://schemas.openxmlformats.org/drawingml/2006/main">
            <a:r>
              <a:t>- cupid/pipelines/processing.py:205-230; cupid/pipelines/samplers/flow_euler.py:66-99; cupid/trainers/flow_matching/sparse_flow_matching.py:95-105.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这是本轮最重要的整图。它从 baseline mother 增量添加 train-only panel，原始 inference 主干仍然完整可见。</a:t>
            </a:r>
          </a:p>
          <a:p xmlns:a="http://schemas.openxmlformats.org/drawingml/2006/main">
            <a:r>
              <a:t>关键边界：right image 的 appearance 不进入 Stage 2 student；右图只提供 target 和 frozen pose source。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/Users/ruikegu/.codex/worktrees/c27f/Cupid/outputs/figures/cupid_stereo_ssl_explanation_pipeline_v01.drawio (editable integration candidate).</a:t>
            </a:r>
          </a:p>
          <a:p xmlns:a="http://schemas.openxmlformats.org/drawingml/2006/main">
            <a:r>
              <a:t>- /Users/ruikegu/.codex/worktrees/c27f/Cupid/docs/CUPID_STEREO_SSL_RESEARCH_CORE.md §11.4-11.8.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左列是新增内容，右列是冻结内容。这个边界是首 Gate 的核心，不允许实现阶段随意扩大。</a:t>
            </a:r>
          </a:p>
          <a:p xmlns:a="http://schemas.openxmlformats.org/drawingml/2006/main">
            <a:r>
              <a:t>冻结 decoder/renderer 的目的，是让它们充当稳定 measurement interface，避免通过 readout adaptation 伪造 representation improvement。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/Users/ruikegu/.codex/worktrees/c27f/Cupid/docs/CUPID_STEREO_SSL_RESEARCH_CORE.md §11.4-11.7.</a:t>
            </a:r>
          </a:p>
          <a:p xmlns:a="http://schemas.openxmlformats.org/drawingml/2006/main">
            <a:r>
              <a:t>- /Users/ruikegu/.codex/worktrees/c27f/Cupid/docs/CUPID_STEREO_INSERTION_SPEC_V1.md §2-§7 (历史 supervised-assist control，不能代替新 Gate).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本页把输入输出写成可审核合同。尤其要区分 I_R appearance 与 C_R pose：当前候选中 I_R 的 appearance 不进入 Stage 2 student。</a:t>
            </a:r>
          </a:p>
          <a:p xmlns:a="http://schemas.openxmlformats.org/drawingml/2006/main">
            <a:r>
              <a:t>z_teacher 是 pretrained CUPID 对 I_L 的伪解释，只是 anchor，不是新 object 3D ground truth。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/Users/ruikegu/.codex/worktrees/c27f/Cupid/docs/CUPID_STEREO_SSL_RESEARCH_CORE.md §3.1, §11.4, §11.6.</a:t>
            </a:r>
          </a:p>
          <a:p xmlns:a="http://schemas.openxmlformats.org/drawingml/2006/main">
            <a:r>
              <a:t>- cupid/datasets/structured_latent.py:152-157, 234; cupid/renderers/gaussian_render.py:169; cupid/trainers/basic.py:442.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用户提出“预测两个 pose”。当前图里保留了两个冻结 predicted poses，但它们是 observation variables，不是首 Gate 的 trainable target。</a:t>
            </a:r>
          </a:p>
          <a:p xmlns:a="http://schemas.openxmlformats.org/drawingml/2006/main">
            <a:r>
              <a:t>方案 A 是保守的 mechanism isolation；方案 B 更符合严格 stereo 几何，但必须先核验 physical baseline 与 CUPID canonical units 的关系。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/Users/ruikegu/.codex/worktrees/c27f/Cupid/docs/CUPID_STEREO_SSL_RESEARCH_CORE.md §11.6-11.7.</a:t>
            </a:r>
          </a:p>
          <a:p xmlns:a="http://schemas.openxmlformats.org/drawingml/2006/main">
            <a:r>
              <a:t>- cupid/utils/pose_utils.py:275; cupid/pipelines/processing.py:166-175.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2 flow baseline 当前只有 velocity MSE。新 branch 在同一 trainer loss 中增加 right observation term；不调用带 no_grad 的完整 pipeline sampler。</a:t>
            </a:r>
          </a:p>
          <a:p xmlns:a="http://schemas.openxmlformats.org/drawingml/2006/main">
            <a:r>
              <a:t>冻结 decoder/renderer 参数不等于切断输入梯度：它们必须对 z_student 保持可微，才能把 observation signal 传回 Stage 2。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/Users/ruikegu/.codex/worktrees/c27f/Cupid/docs/CUPID_STEREO_SSL_RESEARCH_CORE.md §6-§7, §11.4.</a:t>
            </a:r>
          </a:p>
          <a:p xmlns:a="http://schemas.openxmlformats.org/drawingml/2006/main">
            <a:r>
              <a:t>- cupid/trainers/flow_matching/sparse_flow_matching.py:95-105; cupid/pipelines/samplers/flow_euler.py:66-99; cupid/trainers/basic.py:442.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用户已明确：reconstruction、NVS、3DGS、pose 都是手段或 probe，最终要学的是 representation。</a:t>
            </a:r>
          </a:p>
          <a:p xmlns:a="http://schemas.openxmlformats.org/drawingml/2006/main">
            <a:r>
              <a:t>因此 target-right LPIPS 只证明 branch 在优化；representation claim 需要 held-out view、cross-view persistence 和其他 probe。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/Users/ruikegu/.codex/worktrees/c27f/Cupid/docs/CUPID_STEREO_SSL_RESEARCH_CORE.md §2.4-§2.6, §11.8-§11.9.</a:t>
            </a:r>
          </a:p>
          <a:p xmlns:a="http://schemas.openxmlformats.org/drawingml/2006/main">
            <a:r>
              <a:t>- Real-time Overleaf authority: Learning 4D World Representations and Distributions from Stereo Sequences (problem formulation / prototype objective).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本页把用户需要审核的五个决策点集中列出。Step 4 仍然 blocked，直到这些边界被批准。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/Users/ruikegu/.codex/worktrees/c27f/Cupid/docs/CUPID_STEREO_SSL_RESEARCH_CORE.md §12.</a:t>
            </a:r>
          </a:p>
          <a:p xmlns:a="http://schemas.openxmlformats.org/drawingml/2006/main">
            <a:r>
              <a:t>- /Users/ruikegu/.codex/worktrees/c27f/Cupid/docs/cupid_stereo_ssl_slides_storyboard.md (idea / review storyboard).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4731fbdd294d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f03b8a83544172" /><Relationship Type="http://schemas.openxmlformats.org/officeDocument/2006/relationships/slideLayout" Target="/ppt/slideLayouts/slideLayout1.xml" Id="R006ac52f338e41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6ac52f338e41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d752764334d41" /><Relationship Type="http://schemas.openxmlformats.org/officeDocument/2006/relationships/notesSlide" Target="/ppt/notesSlides/notesSlide1.xml" Id="R9211bfbfa71b4a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cfc9bafc24539" /><Relationship Type="http://schemas.openxmlformats.org/officeDocument/2006/relationships/image" Target="/ppt/media/image.png" Id="R0c8b4ab8df7847fa" /><Relationship Type="http://schemas.openxmlformats.org/officeDocument/2006/relationships/notesSlide" Target="/ppt/notesSlides/notesSlide2.xml" Id="R232e5fcf9d624b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534367dde42d1" /><Relationship Type="http://schemas.openxmlformats.org/officeDocument/2006/relationships/notesSlide" Target="/ppt/notesSlides/notesSlide3.xml" Id="Rdaa425483fa049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93afbea3a4af5" /><Relationship Type="http://schemas.openxmlformats.org/officeDocument/2006/relationships/image" Target="/ppt/media/image2.png" Id="R0a247974b4f24aea" /><Relationship Type="http://schemas.openxmlformats.org/officeDocument/2006/relationships/notesSlide" Target="/ppt/notesSlides/notesSlide4.xml" Id="R9df0b21f1e104d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ca4c5b1f74d57" /><Relationship Type="http://schemas.openxmlformats.org/officeDocument/2006/relationships/notesSlide" Target="/ppt/notesSlides/notesSlide5.xml" Id="R770b605c4d754e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7146d844b4965" /><Relationship Type="http://schemas.openxmlformats.org/officeDocument/2006/relationships/notesSlide" Target="/ppt/notesSlides/notesSlide6.xml" Id="Ree9b04110be744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e4f8a9b4e4ae4" /><Relationship Type="http://schemas.openxmlformats.org/officeDocument/2006/relationships/notesSlide" Target="/ppt/notesSlides/notesSlide7.xml" Id="R169241b4609b4e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3c5b867d84224" /><Relationship Type="http://schemas.openxmlformats.org/officeDocument/2006/relationships/notesSlide" Target="/ppt/notesSlides/notesSlide8.xml" Id="R3ade2e234cf140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066ed23a544a3" /><Relationship Type="http://schemas.openxmlformats.org/officeDocument/2006/relationships/notesSlide" Target="/ppt/notesSlides/notesSlide9.xml" Id="Rd9cf873e6c1e4b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d565e9a744e80" /><Relationship Type="http://schemas.openxmlformats.org/officeDocument/2006/relationships/notesSlide" Target="/ppt/notesSlides/notesSlide10.xml" Id="R828f841a6c8640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17A15A-6BDD-4CDA-875F-508619F2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4C"/>
          </a:solidFill>
          <a:ln xmlns:a="http://schemas.openxmlformats.org/drawingml/2006/main" w="0">
            <a:solidFill>
              <a:srgbClr val="102C4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2073A-90BD-4400-BDE1-FF7EA6FC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CUPID × stereo SSL · idea / review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6FD15-801F-4BE0-994A-512CF03D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90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CE8F3"/>
                </a:solidFill>
                <a:latin typeface="PingFang SC"/>
                <a:ea typeface="PingFang SC"/>
                <a:cs typeface="PingFang SC"/>
              </a:defRPr>
            </a:pPr>
            <a:r>
              <a:rPr sz="825" b="1" i="0">
                <a:solidFill>
                  <a:srgbClr val="DCE8F3"/>
                </a:solidFill>
                <a:latin typeface="PingFang SC"/>
                <a:ea typeface="PingFang SC"/>
                <a:cs typeface="PingFang SC"/>
              </a:rPr>
              <a:t>1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C2B2E-CD05-465F-AEE7-DA60731D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Step 3 先审图：双目自监督只改 Stage 2 训练分支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76AE1-2ED5-4EE6-B6C2-A8AEEB50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09625"/>
            <a:ext cx="11372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研究对象是 representation；NVS、3DGS 和 pose 只是训练载体或可验证的 readout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21F36-E35F-4505-B1F6-BAD4AA81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1920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08083-31AE-4C86-BF20-3DC49E41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一句话设计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994B4-DE86-45CD-8A6F-6ADC0E35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2192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用同步右图约束左图条件下的 Stage 2 表示，使同一个 z 能在新相机下解释另一只眼睛。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4BCB3-5EA1-4CB8-9341-5EA15274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7639050" cy="3409950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9B1DF-5B6F-4532-8767-89707E03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训练期新增的最小闭环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1C1B53-2D7F-4CE3-8D4D-0CBEC080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971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162EC-F307-4ACC-A7B3-178A5354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I_L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3BD8A-12A7-4BBC-BEA5-E15E3281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819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左图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4B751-7D64-44C6-B438-56A0E8FD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432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C44B9-CEE1-487B-BE82-FF3FE14C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724150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3E05C-14BF-4F07-8C2C-66D4EC78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28925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Frozen</a:t>
            </a:r>
          </a:p>
          <a:p xmlns:a="http://schemas.openxmlformats.org/drawingml/2006/main">
            <a:pPr algn="ctr">
              <a:def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CUPID teacher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F9536-10B0-46FF-A9B3-07A8A2C4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38500"/>
            <a:ext cx="1228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z_teacher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6A111F-CE1F-439F-AFB9-7B70A20F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432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EFDDD1-9E53-404C-B4DF-766DAAA7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724150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9F3EA"/>
          </a:solidFill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F1DA35-E809-4123-8253-C6845C20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28925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Trainable</a:t>
            </a:r>
          </a:p>
          <a:p xmlns:a="http://schemas.openxmlformats.org/drawingml/2006/main">
            <a:pPr algn="ctr">
              <a:defRPr sz="12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Stage 2 student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27A592-5BD7-4AE6-9A28-0CFE6A85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238500"/>
            <a:ext cx="1228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z_student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3AE998-7142-43F7-ABF0-FB860667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432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936825-4C86-4C93-815A-0ABADDDA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724150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6F0A72-33BF-4D2B-A48F-90CF9ABA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28925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Frozen GS render</a:t>
            </a:r>
          </a:p>
          <a:p xmlns:a="http://schemas.openxmlformats.org/drawingml/2006/main">
            <a:pPr algn="ctr">
              <a:def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at C_R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DD3182-6C9A-4DD4-A268-89FD1897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38500"/>
            <a:ext cx="1228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I_R_hat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F2DA4F-72E4-46F8-9BA8-7E3FFC4B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432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A2BAB1-AB2C-4BB9-95F7-D5D85560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724150"/>
            <a:ext cx="11239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344064-94AD-44CC-8B65-48F10263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28925"/>
            <a:ext cx="97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Observed I_R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841AE5-763C-424B-A74E-11FD3132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38500"/>
            <a:ext cx="971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L_stereo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5A071A-ED44-40BF-A04A-C2765252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687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右图 appearance 不进入 Stage 2 student；右图只提供 target 和冻结 pose source。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9465C1-1B11-42CC-A421-DE1DF413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687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梯度方向：L_stereo → render → z_student → Stage 2 student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ECBEFD-7E2B-4901-804E-F5D561EC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3181350" cy="34099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53DDF2-FFF2-4982-92A2-66B33992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383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rPr>
              <a:t>本轮只需要审核三件事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C330FD-0E8E-47A7-9D1B-D56D04C8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717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D193D8-2209-404B-BEFB-6081B9C5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717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加什么：right-view observation loss 分支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822632-3D21-405F-BF97-6187DC5E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623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BD15E6-2655-4B30-9A0C-FF284133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623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改谁：Stage 2 student 是唯一 trainable endpoint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4C7243-4AA2-4EC7-B4CA-7A163661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528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8C3AAA-E26D-4459-A24D-3891CB1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528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不改什么：Stage 1、DINOv2、decoder、renderer、推理 API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70646C-5231-41B6-A9FC-DEBCB1A2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48200"/>
            <a:ext cx="2381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A03345-590B-43EA-8553-07522DB9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67250"/>
            <a:ext cx="2228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67B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67B16"/>
                </a:solidFill>
                <a:latin typeface="PingFang SC"/>
                <a:ea typeface="PingFang SC"/>
                <a:cs typeface="PingFang SC"/>
              </a:rPr>
              <a:t>DESIGN ONLY · 等待审核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A79AD8-D563-4E72-BE3E-76CEE1CB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solidFill>
              <a:srgbClr val="CCD7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2B31F4-1BF7-4D8D-8213-0D6D6C63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5913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本页先给结论；后续页面逐项拆输入、输出、冻结边界和 pose 方案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7978F2-8DCE-4FA2-A31D-A4D11085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71981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D4DEF7-A176-4D8C-ACD0-296489D5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4C"/>
          </a:solidFill>
          <a:ln xmlns:a="http://schemas.openxmlformats.org/drawingml/2006/main" w="0">
            <a:solidFill>
              <a:srgbClr val="102C4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9E6AC-2730-4B37-A5B7-4CA544FF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Baseline mother diagram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B3A74-6D44-49FA-B652-275CDE8C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90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CE8F3"/>
                </a:solidFill>
                <a:latin typeface="PingFang SC"/>
                <a:ea typeface="PingFang SC"/>
                <a:cs typeface="PingFang SC"/>
              </a:defRPr>
            </a:pPr>
            <a:r>
              <a:rPr sz="825" b="1" i="0">
                <a:solidFill>
                  <a:srgbClr val="DCE8F3"/>
                </a:solidFill>
                <a:latin typeface="PingFang SC"/>
                <a:ea typeface="PingFang SC"/>
                <a:cs typeface="PingFang SC"/>
              </a:rPr>
              <a:t>2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A941C-66C1-4778-B92B-55B40F8F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原始 CUPID baseline：两阶段链路和推理接口保持不变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5D355-B6DE-4CB3-8081-3C95A16F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09625"/>
            <a:ext cx="11372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先固定“原来怎么工作”，才能判断新增双目约束究竟改了什么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b4ab8df7847fa"/>
          <a:stretch xmlns:a="http://schemas.openxmlformats.org/drawingml/2006/main"/>
        </p:blipFill>
        <p:spPr>
          <a:xfrm xmlns:a="http://schemas.openxmlformats.org/drawingml/2006/main">
            <a:off x="381000" y="1191829"/>
            <a:ext cx="11430000" cy="399809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8870F-C326-4D55-9424-6236F80A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8A6"/>
          </a:solidFill>
          <a:ln xmlns:a="http://schemas.openxmlformats.org/drawingml/2006/main" w="0">
            <a:solidFill>
              <a:srgbClr val="3F7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2D580-31A6-4BAD-8906-4471754F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F78A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3F78A6"/>
                </a:solidFill>
                <a:latin typeface="PingFang SC"/>
                <a:ea typeface="PingFang SC"/>
                <a:cs typeface="PingFang SC"/>
              </a:rPr>
              <a:t>Stage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EF4FA-B3CE-4DAF-B5C7-D45A484D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0070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structure / UV + 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88DD8-BE58-4AA7-8C86-DF79FDC8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6007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67B1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D67B16"/>
                </a:solidFill>
                <a:latin typeface="PingFang SC"/>
                <a:ea typeface="PingFang SC"/>
                <a:cs typeface="PingFang SC"/>
              </a:rPr>
              <a:t>Stage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F52CE-C5AA-4958-AB51-CF1041F0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0070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fine structured latent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E9420-6D75-4873-BA9B-4EB5CB5E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007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Readout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16C2B-F2B4-45EC-B397-3AB5F858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60070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Gaussian / mesh / RF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999EA-B214-4B6B-8430-28AFC49D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1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rPr>
              <a:t>默认推理：left-only；right image、stereo transform 和 reconstruction loss 都不在原始 inference API 中。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D7ABF-7585-437E-9DA1-F9C1FE81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solidFill>
              <a:srgbClr val="CCD7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49D8B-360B-4CAD-BF9E-0BA9F6DD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5913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CUPID baseline mother · 原始路径在新增图中必须继续可见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EA459A-6595-4FE9-B477-0FC203BD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654931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D66A5B-2863-4B2D-B23A-19EF7D3E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4C"/>
          </a:solidFill>
          <a:ln xmlns:a="http://schemas.openxmlformats.org/drawingml/2006/main" w="0">
            <a:solidFill>
              <a:srgbClr val="102C4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21113-E4A9-4DD2-BA56-9E7FC709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Step 3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73BB0-4327-4E47-939D-86DBB71F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90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CE8F3"/>
                </a:solidFill>
                <a:latin typeface="PingFang SC"/>
                <a:ea typeface="PingFang SC"/>
                <a:cs typeface="PingFang SC"/>
              </a:defRPr>
            </a:pPr>
            <a:r>
              <a:rPr sz="825" b="1" i="0">
                <a:solidFill>
                  <a:srgbClr val="DCE8F3"/>
                </a:solidFill>
                <a:latin typeface="PingFang SC"/>
                <a:ea typeface="PingFang SC"/>
                <a:cs typeface="PingFang SC"/>
              </a:rPr>
              <a:t>3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32382-C277-4CD0-93D5-7EA10B45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四个候选接入点：Stage 2 最接近研究目标，且责任最好拆开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39E8A-2764-4EC4-87D0-12AF7C34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09625"/>
            <a:ext cx="11372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这里比较的是“训练信号接到哪里”，不是同时实现四套方案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D111D-3213-470A-8B82-EBD82AE7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714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4A4B1-EBDE-4B6C-BAD0-70D767F7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15621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候选位置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F47E4-89B1-4281-A309-4D0F1E6A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57300"/>
            <a:ext cx="2667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144CE-76FE-4B43-B9E8-6AFEE4AF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276350"/>
            <a:ext cx="2514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直接更新对象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4EE23-3497-4530-BDBD-B88B9449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257300"/>
            <a:ext cx="3333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7008D-0325-4ABF-939F-4D40FCA7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276350"/>
            <a:ext cx="3181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双目约束如何进入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B4883-3BE3-4A7C-B029-130D9C44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57300"/>
            <a:ext cx="36766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8DF68-5C8D-4488-A3B1-52CA810B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76350"/>
            <a:ext cx="3524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为什么当前不作为首 Gate / 当前结论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89E63-24F8-4026-ADA1-50205264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71675"/>
            <a:ext cx="1714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CD485D-AA49-40C1-B413-11D97235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0"/>
            <a:ext cx="1562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A · Stage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1ACBD-4D2F-41EE-A14E-4BE3A8AD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971675"/>
            <a:ext cx="2667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EDEF57-B2A6-43F9-A8B0-1667D1B1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2514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z_structure / z_uv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604859-C18D-47DE-84FC-D2F5B192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71675"/>
            <a:ext cx="3333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816DBE-2E25-4EEB-9DC5-6CFAC704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00250"/>
            <a:ext cx="31813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左右独立 support、UV、pose 与 rig relation 一致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64EDC4-0966-42A4-B469-617DF26D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71675"/>
            <a:ext cx="36766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639100-ABD1-45CC-8C8A-14481F7F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524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硬 occupancy / argwhere 和部分 pose solver 不利于稳定反传；主要测试 camera factorization。第二顺位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8BD2EF-E635-4AC4-B490-93BA4084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1714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437E0F-F8C6-432E-8B4E-73035842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14625"/>
            <a:ext cx="1562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B · Stage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7C6AAD-6C3B-4000-A8B0-B37FA482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86050"/>
            <a:ext cx="2667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181478-F2C0-49EC-A215-D59E6EF1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14625"/>
            <a:ext cx="2514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z_slat flow student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927EC6-96A4-41B0-8B8C-6D8A3029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86050"/>
            <a:ext cx="3333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7A8260-71BB-40F0-A0A1-36F17696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14625"/>
            <a:ext cx="31813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同一 z 解码后，在 C_R 下渲染并匹配 I_R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84EDB1-8AD2-4F4F-816D-2517060D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86050"/>
            <a:ext cx="36766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7E7EB1-EF9A-44FB-81B8-42DA7376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3524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直接作用于 fine representation/distribution；可冻结 decoder/renderer 作 measurement interface。首选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47F57E-6344-413E-8E3D-1183BBDC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0425"/>
            <a:ext cx="1714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5F4000-FC77-4075-AA3A-489AF0B8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1562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C · Decoder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AE3507-44D7-452F-B89C-535876EF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2667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45DB9C-0287-41F8-94C6-F0C870FC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0"/>
            <a:ext cx="2514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VAE / GS decoder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4382AE-694A-4D3F-BA7E-717D46E1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00425"/>
            <a:ext cx="3333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6DE1A0-A151-468A-ABED-C1BD7682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29000"/>
            <a:ext cx="31813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直接优化左右 render reconstruction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830CEA-1565-41EE-A012-6CA6A72F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00425"/>
            <a:ext cx="36766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8A6E67-311B-40FE-8CFF-06F4EB75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3524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decoder 可能自己吸收误差，破坏 latent vocabulary，无法归因到 representation。后置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B944DD-1221-477E-84D9-620D458A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1714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5F6955-3D35-4439-B3BD-984EC308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43375"/>
            <a:ext cx="1562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D · Joint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8D1141-D8B3-44E2-AF36-60606DDF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14800"/>
            <a:ext cx="2667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90CF18-BC81-4B0F-8A60-637C4BD3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43375"/>
            <a:ext cx="2514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Stage 1 + Stage 2 (+ decoder)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3A38FD-A299-47D2-8699-1FDFA8E4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3333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645817-E954-43F3-ADF3-71C09BB5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43375"/>
            <a:ext cx="31813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两目 render + pose cycle + latent consistency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8067FF-316C-46B8-9AF0-B52986A3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14800"/>
            <a:ext cx="36766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42F610-7DB1-499A-97B5-E0FD74AF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43375"/>
            <a:ext cx="3524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模块互相补偿，训练路径长，首个结果无法解释。长期方案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71628D-E1DE-481D-B22E-6578D47E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113919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D67B1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497E1B-90BF-49B1-95CE-86FD214B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67B1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D67B16"/>
                </a:solidFill>
                <a:latin typeface="PingFang SC"/>
                <a:ea typeface="PingFang SC"/>
                <a:cs typeface="PingFang SC"/>
              </a:rPr>
              <a:t>当前选择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182413-C81E-478F-B53C-080B0FAB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101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rPr>
              <a:t>B · Stage 2 z_slat distribution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566880-318E-4F0F-AC10-92BEC733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1064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理由：它把右目观测施加到最接近“可复用 3D 表示”的位置，同时冻结其他环节，保留科学归因。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F6BC60-28AD-40BC-8975-E47C6737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solidFill>
              <a:srgbClr val="CCD7E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9B3EE1-FEFA-4738-A84D-7F335CD4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5913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候选 B 是设计判断，不是实验结论；其余三项保留为后续独立 Gate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D6288C-C22D-40B6-880A-7399F31A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017777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98514-4ECB-4F60-A96F-1BDD79E2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4C"/>
          </a:solidFill>
          <a:ln xmlns:a="http://schemas.openxmlformats.org/drawingml/2006/main" w="0">
            <a:solidFill>
              <a:srgbClr val="102C4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986F4-4CF8-440F-A46C-4BB04D58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Integration mother diagram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2A945-A192-4A64-924A-4B8682BF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90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CE8F3"/>
                </a:solidFill>
                <a:latin typeface="PingFang SC"/>
                <a:ea typeface="PingFang SC"/>
                <a:cs typeface="PingFang SC"/>
              </a:defRPr>
            </a:pPr>
            <a:r>
              <a:rPr sz="825" b="1" i="0">
                <a:solidFill>
                  <a:srgbClr val="DCE8F3"/>
                </a:solidFill>
                <a:latin typeface="PingFang SC"/>
                <a:ea typeface="PingFang SC"/>
                <a:cs typeface="PingFang SC"/>
              </a:rPr>
              <a:t>4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672BB-D0F0-40B6-A068-843889CE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候选方案的完整计算图：右图只在训练时作为 target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B3EC1-310C-4441-B347-A0E0813E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09625"/>
            <a:ext cx="11372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灰色 = 冻结路径；青绿色 = 新增训练支路；虚线箭头 = observation gradient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47974b4f24aea"/>
          <a:stretch xmlns:a="http://schemas.openxmlformats.org/drawingml/2006/main"/>
        </p:blipFill>
        <p:spPr>
          <a:xfrm xmlns:a="http://schemas.openxmlformats.org/drawingml/2006/main">
            <a:off x="487881" y="1123950"/>
            <a:ext cx="8196813" cy="5429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DD27B-8DBC-4F83-AE9D-9120CBBC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219200"/>
            <a:ext cx="2667000" cy="4953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E057D-66F4-4516-8948-AF65051A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28750"/>
            <a:ext cx="2143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C4C"/>
          </a:solidFill>
          <a:ln xmlns:a="http://schemas.openxmlformats.org/drawingml/2006/main" w="0">
            <a:solidFill>
              <a:srgbClr val="102C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D6188-7559-4CF9-A3C4-ADFD428E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读图顺序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F8D13-BFAE-4773-808A-3B451471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62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48430-FC0F-4817-BDA8-6CEED1F5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4310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左图 I_L 走原 CUPID 路径，得到 frozen teacher 与左目条件。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CCD52E-96E7-4341-89E5-C9A25200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0B170-8FC6-43E0-BB7A-1D0883EE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8605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右图 I_R 不编码 appearance；只走 frozen Stage 1 得到 C_R。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DB624-99D5-44FE-B711-8A7D66EE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48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39E3A9-866F-40E4-9BAE-C9A6B3B9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2900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Stage 2 student 产生 z_student，经 v→x0 后送入冻结 GS renderer。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FA775B-AC3E-4D8D-9BED-E9EDF4CA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91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FCBB63-00C7-4C16-9C49-13F78644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17195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渲染 I_R_hat 与真实 I_R 比较，loss 只回到 Stage 2 student。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C3A7F4-4673-4DDA-AAEC-55BE3137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238750"/>
            <a:ext cx="22574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0">
            <a:solidFill>
              <a:srgbClr val="EAF6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F607BA-7935-47E7-8943-F65188AE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257800"/>
            <a:ext cx="2105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318B5E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318B5E"/>
                </a:solidFill>
                <a:latin typeface="PingFang SC"/>
                <a:ea typeface="PingFang SC"/>
                <a:cs typeface="PingFang SC"/>
              </a:rPr>
              <a:t>INFERENCE UNCHANGED · LEFT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2DB75D-3708-4998-A16F-437BBB09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solidFill>
              <a:srgbClr val="CCD7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163148-442A-4225-8001-D4D6F6DA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5913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母图来源：baseline v02 的可编辑元素 + 一个 train-only proposed branch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FFB4C6-2EF7-4780-B9FD-02B893A7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05845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2A6515-9879-4212-8E9B-08DB4ECF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4C"/>
          </a:solidFill>
          <a:ln xmlns:a="http://schemas.openxmlformats.org/drawingml/2006/main" w="0">
            <a:solidFill>
              <a:srgbClr val="102C4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7C186-4643-4E36-BD67-F91FCF19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Change perimeter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EFEE1-569C-49C3-9771-C2F69C0F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90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CE8F3"/>
                </a:solidFill>
                <a:latin typeface="PingFang SC"/>
                <a:ea typeface="PingFang SC"/>
                <a:cs typeface="PingFang SC"/>
              </a:defRPr>
            </a:pPr>
            <a:r>
              <a:rPr sz="825" b="1" i="0">
                <a:solidFill>
                  <a:srgbClr val="DCE8F3"/>
                </a:solidFill>
                <a:latin typeface="PingFang SC"/>
                <a:ea typeface="PingFang SC"/>
                <a:cs typeface="PingFang SC"/>
              </a:rPr>
              <a:t>5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03854-C9D9-4A71-891A-1A5C58F8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改什么、冻结什么：只有一个 trainable endpoint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B0D4B-492D-4AEC-B779-D3B43D0D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09625"/>
            <a:ext cx="11372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如果某个模块不在这两列中，就不应在首 Gate 中出现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F5D64-D512-4414-B057-00E2D1ED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8573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E1FF9-F2BA-4535-970A-983F9D53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新增 / 改动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DB70C-1AAD-4558-A899-67B63611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200150"/>
            <a:ext cx="18573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4B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4C0A9-7934-40E9-862E-ABFE0FC6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2192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保持 / 冻结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3B797-EA7A-44D9-9A98-F7CC10F6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5334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F4CAD-A2AB-45DD-BBE9-718991FF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5334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5C8AF-7CB7-46D3-92DE-87483992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57028-63EA-43F8-840B-0E10721D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38325"/>
            <a:ext cx="4581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paired right image I_R + alpha / validity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E5CA5-6BFE-4AA5-A1B5-757B6709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58DB2F-2FCA-4AF4-BBC5-16E81298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581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frozen right Stage 1 pose inference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25A6E-7957-450F-990B-A515D2ED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E4367B-5A85-4238-B679-9182AA89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95575"/>
            <a:ext cx="4581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teacher pseudo latent z_teacher（stop-gradient）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372FDD-2A4A-4D65-87B7-473B6993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F4B0D1-A740-4760-8DF0-70D5AC63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4581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differentiable v→x0 clean-latent estimate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885FC7-51A4-40D9-8332-41206651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CC9170-0971-400F-96CF-A213FE66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4581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right-camera GS render + L1/LPIPS observation loss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3995FF-4B9F-4749-AE58-50819534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11DE72-72B3-47A5-92C7-7392FA5D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4581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paired-data glue、mask、日志项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77EAD7-4213-4B46-9B38-E302348E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383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E84582-A419-4678-B547-048BC680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38325"/>
            <a:ext cx="4581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DINOv2 与 image conditioning 语义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D4BE6C-7A33-4E48-8EA8-ACF9561A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3D1C9B-956B-4F62-B0D0-58216669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4581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Stage 1 structure / UV model 与 pose solver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8490D5-7865-4B49-A982-0F168CFB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955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1599B9-E3BF-46CE-85BB-88168DE7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95575"/>
            <a:ext cx="4581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Stage 2 网络拓扑、noise、time、CFG 机制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982563-6B39-4871-A3DA-44076713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242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34ED58-DFE7-4AE7-B5DE-8E020239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24200"/>
            <a:ext cx="4581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Gaussian decoder、renderer、background compositing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2B4CE9-205E-4DE3-B54F-4B8680EF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528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D3D5F4-2B35-4342-9607-2A486202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52825"/>
            <a:ext cx="4581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optimizer、scheduler、split、seed、推理 API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B6B50E-9556-4C15-9542-E42B7F4E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814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84909E-AD28-4191-84C1-08A3492F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81450"/>
            <a:ext cx="4581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不新增 pose head / depth head / relation head / confidence mask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0C3A6D-A6D4-41F8-9770-67832158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11144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D67B1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F32ABA-2B0C-4F00-9CE5-080BE043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67B1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D67B16"/>
                </a:solidFill>
                <a:latin typeface="PingFang SC"/>
                <a:ea typeface="PingFang SC"/>
                <a:cs typeface="PingFang SC"/>
              </a:rPr>
              <a:t>单变量合同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360DFE-01E5-409C-B7B0-D4040E7E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673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matched control = 同一 teacher anchor、同一数据/噪声/更新步数，唯一关闭 λ_stereo；treatment = 打开右目 observation loss。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0434E4-D0C7-4283-B1DC-4581E7E4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022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rPr>
              <a:t>因此结果可以回答：右目观测是否真的纠正了 Stage 2 distribution？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BB00A6-A9C3-4551-BD05-1BFF87DE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solidFill>
              <a:srgbClr val="CCD7E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C415D0-ED0D-41DD-9EFC-F04A6778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5913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只改训练支路，不改默认推理；只更新 Stage 2 student，不更新 pose / decoder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9641B4-91ED-4A83-9448-2E3228B5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177710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596D2A7-D93C-42E6-AB3C-70CDA325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4C"/>
          </a:solidFill>
          <a:ln xmlns:a="http://schemas.openxmlformats.org/drawingml/2006/main" w="0">
            <a:solidFill>
              <a:srgbClr val="102C4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721EB-8295-4098-A35A-0B0198D5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Interface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6B15B-815F-4E2F-81DE-FAB39E67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90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CE8F3"/>
                </a:solidFill>
                <a:latin typeface="PingFang SC"/>
                <a:ea typeface="PingFang SC"/>
                <a:cs typeface="PingFang SC"/>
              </a:defRPr>
            </a:pPr>
            <a:r>
              <a:rPr sz="825" b="1" i="0">
                <a:solidFill>
                  <a:srgbClr val="DCE8F3"/>
                </a:solidFill>
                <a:latin typeface="PingFang SC"/>
                <a:ea typeface="PingFang SC"/>
                <a:cs typeface="PingFang SC"/>
              </a:rPr>
              <a:t>6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8D9C3-A9F5-48E6-984A-A8959D95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输入输出对齐：右图提供两类信息，身份必须分开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E1C04-ECE0-4284-BD21-70990CB0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09625"/>
            <a:ext cx="11372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appearance target、pose variable、latent variable、gradient ownership 各自独立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C87AB-521E-401D-8027-28CE11D9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00150"/>
            <a:ext cx="1428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29F42-14E5-4253-87E2-CE772C0A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19200"/>
            <a:ext cx="1276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输入 / 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9D5D3-67AD-41BD-850A-A036ED9E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200150"/>
            <a:ext cx="22669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23B97-347F-4E62-9A3A-D0E70D42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219200"/>
            <a:ext cx="2114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语义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C040A-A0B3-4D3F-BE82-3B843880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200150"/>
            <a:ext cx="4000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D2D74-19E3-422C-BDA1-53CBDC93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219200"/>
            <a:ext cx="3848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谁消费它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9D2AB-2FA7-4760-A040-5127332D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200150"/>
            <a:ext cx="3619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BD14F-0852-4826-8948-ABFF403E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19200"/>
            <a:ext cx="346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梯度与边界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F2758-D0B6-4EDD-A5F2-32157E11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704975"/>
            <a:ext cx="1428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F92FB-CD3F-42CF-BBFD-EDBB62A0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33550"/>
            <a:ext cx="1276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I_L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533A5-5123-4FD3-9670-ECA5D01D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704975"/>
            <a:ext cx="22669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B518F-E972-4039-BE34-88311AC7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33550"/>
            <a:ext cx="2114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左目 conditioning image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2CFC4-4FE0-479D-83C0-AF8F7EB5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704975"/>
            <a:ext cx="4000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0586D0-4CE2-401B-B242-B5CB32AE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33550"/>
            <a:ext cx="3848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原 CUPID Stage 1 + Stage 2 student / teacher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5C2C87-BF5F-446B-B145-6DA9D14B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04975"/>
            <a:ext cx="3619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C147AA-AE0E-4FBB-AE59-9B3676A3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33550"/>
            <a:ext cx="3467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图像本身无梯度；沿原 left condition 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70E51B-7361-45F8-98A1-78B09EC6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09800"/>
            <a:ext cx="1428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20B971-D85D-4FC4-905F-732F0681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38375"/>
            <a:ext cx="1276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I_R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A58D4E-1EBC-41CB-96BB-357921C1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09800"/>
            <a:ext cx="22669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679013-B06F-43E8-A412-B666BF6A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38375"/>
            <a:ext cx="2114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同步右目 observation target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A7BBA1-D842-44D2-8F1E-5C514A16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09800"/>
            <a:ext cx="4000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F49A79-51DD-4D4E-A24A-E35A4AC9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38375"/>
            <a:ext cx="3848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observation loss；另一路 frozen pose inference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AFDDF7-AF64-43A1-A3B0-411DC89A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9800"/>
            <a:ext cx="3619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460C30-3649-4152-961F-BAC22971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38375"/>
            <a:ext cx="3467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只作 target / pose source；appearance 不进入 student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4E673D-AADC-44BE-9598-714EC291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714625"/>
            <a:ext cx="1428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B5C455-708E-47F6-8EED-9C580496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43200"/>
            <a:ext cx="1276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C_L, K_L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AF6D0A-FC26-470F-9CC5-59884463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14625"/>
            <a:ext cx="22669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38AE90-6F9A-4507-8723-94E045CF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43200"/>
            <a:ext cx="2114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左目 pose / intrinsics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6BDF84-B509-4291-B450-23D72465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14625"/>
            <a:ext cx="4000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CB5986-0A2E-493F-9F63-44CF895E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43200"/>
            <a:ext cx="3848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原 pose-aligned conditioning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20FE3C-2BD4-4BCB-BBFD-B4799427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14625"/>
            <a:ext cx="3619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2BBE69-4DE5-4675-9A2B-F3E8C2C6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43200"/>
            <a:ext cx="3467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fixed / stop-gradient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5DCA66-C975-447C-AC96-31212059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19450"/>
            <a:ext cx="1428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BB5C39-A1D2-4D98-AA96-36D46ADC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48025"/>
            <a:ext cx="1276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C_R, K_R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E73C5E-9043-4017-B193-F9B042DF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19450"/>
            <a:ext cx="22669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C80728-20DF-4557-86FF-96AB7412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48025"/>
            <a:ext cx="2114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右目 renderer camera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B559D5-EEB5-418E-B9A8-1161075E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19450"/>
            <a:ext cx="4000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11DC4D-3859-4274-9F9F-A8CD043E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48025"/>
            <a:ext cx="3848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frozen GS renderer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849AB1-80EC-40DA-84C3-A5800D0A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19450"/>
            <a:ext cx="3619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E2D39B-B238-4B56-8EC2-9A021BB1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48025"/>
            <a:ext cx="3467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stop-gradient；不训练 pose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546B47-DF87-4BB4-95F5-6A06B4DE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24275"/>
            <a:ext cx="1428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473C54-E142-4050-B602-28E275B1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52850"/>
            <a:ext cx="1276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T_R&lt;-L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E03020-75FC-492C-812A-C2BA7F27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724275"/>
            <a:ext cx="22669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61F8B8-924A-4014-913D-BD99D681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752850"/>
            <a:ext cx="2114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calibrated rig relation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15DB51-CEF9-4EBE-A15F-3BB42F56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24275"/>
            <a:ext cx="4000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FC2C975-7D4C-4E0C-AB6B-FF3246B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52850"/>
            <a:ext cx="3848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pose/rig consistency guard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7008B2-58FD-4CF0-8CB2-9F0EE8DF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24275"/>
            <a:ext cx="3619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C158E6A-F1D8-4FB8-8329-FEDE0FB9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52850"/>
            <a:ext cx="3467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首 Gate 只作 evaluation guard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D8E78BE-A38D-4C10-90AD-B063CCEA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29100"/>
            <a:ext cx="1428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AA43FF-B3E9-4B34-BF46-9085ABE9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57675"/>
            <a:ext cx="1276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z_teacher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05C291-4B11-4530-B96C-F5054951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29100"/>
            <a:ext cx="22669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1DDD459-F471-44FA-9E25-41B9C17C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57675"/>
            <a:ext cx="2114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teacher pseudo latent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D179596-F1FC-4419-B7E4-63B2BAF8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29100"/>
            <a:ext cx="4000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5E1BAA-877B-408E-B889-E82C9170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57675"/>
            <a:ext cx="3848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diffuse + Stage 2 student anchor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2497EDE-03CD-41C6-9B94-E8E89A80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29100"/>
            <a:ext cx="3619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33F388B-8B8F-439B-B7D6-A0EB3849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57675"/>
            <a:ext cx="3467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stop-gradient；不是新 3D label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2D4CE2-467F-48A7-91D2-F21C62DD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33925"/>
            <a:ext cx="1428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A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D835737-3E0C-42A0-81F6-773B8929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0"/>
            <a:ext cx="1276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z_student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AD17C02-7852-412A-9987-3AAC5C66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33925"/>
            <a:ext cx="22669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A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FBF8558-60D9-404F-890F-0A19ADD3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762500"/>
            <a:ext cx="2114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student clean latent estimate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CDB8BB-D61A-46FB-8104-3188723F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33925"/>
            <a:ext cx="4000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A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877297F-7ACC-417F-BC31-06D90FEC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62500"/>
            <a:ext cx="3848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frozen Gaussian decoder / renderer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75B0145-76F1-4008-89A7-409BC09D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33925"/>
            <a:ext cx="3619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A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C896686-A607-4E35-9B22-9C724B85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62500"/>
            <a:ext cx="3467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唯一承载 observation gradient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605FEC4-96A0-4E75-A2AF-81331725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38750"/>
            <a:ext cx="1428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EA761AA-411A-4A29-8B3D-1994BB48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67325"/>
            <a:ext cx="1276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I_R_hat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40BAD55-CC6D-42BE-8742-785C5CD2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38750"/>
            <a:ext cx="22669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7D36153-675C-458A-9A8F-4D3F5510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67325"/>
            <a:ext cx="2114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rendered right-view prediction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48EFF8A-7F78-4E2D-884B-785FB816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238750"/>
            <a:ext cx="4000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081F643-5B72-4766-B7E2-87E9DB40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67325"/>
            <a:ext cx="3848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L1 + LPIPS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B0FBC8A-8E63-4486-87C2-63C665FF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38750"/>
            <a:ext cx="3619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3AA1631-8F32-42BC-9568-CC6FCC9F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67325"/>
            <a:ext cx="3467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prediction branch；梯度向前回到 z_student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A97754A-E9E2-47D6-AF0F-21A8CB51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43575"/>
            <a:ext cx="1428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174916D-FC3D-4491-A47E-26B835A6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72150"/>
            <a:ext cx="1276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L_stereo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7083BE2-7FD5-4A24-9F29-6E000BF1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743575"/>
            <a:ext cx="22669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A1A026F-4E24-49BB-984A-6DE21581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772150"/>
            <a:ext cx="2114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right-view observation loss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77344BC-C36C-42BB-82AC-DB26669A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743575"/>
            <a:ext cx="4000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885B70E-56AC-45AE-83AC-CB6FCFD7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772150"/>
            <a:ext cx="3848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trainer total loss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3B49189-FB2A-4582-B218-98119133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743575"/>
            <a:ext cx="3619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EC43790-E490-4805-910E-E0F418FB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772150"/>
            <a:ext cx="3467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最终只更新 Stage 2 student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BBCC6F6-1254-479C-82E0-A3C61596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C8483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C8483D"/>
                </a:solidFill>
                <a:latin typeface="PingFang SC"/>
                <a:ea typeface="PingFang SC"/>
                <a:cs typeface="PingFang SC"/>
              </a:rPr>
              <a:t>最容易错的接口：I_R ≠ Stage 2 condition；C_R ≠ trainable pose；z_teacher ≠ ground-truth x0。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B1FDBC8-E317-4462-A627-839F8A87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solidFill>
              <a:srgbClr val="CCD7E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806241C-A98F-4B46-B668-0C03D6FD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5913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任何输入输出对齐错误都会让 right-view loss 变成 target leakage 或错误监督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59EE408-EEB4-41C0-AFDF-8E614D49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464787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AC0416-61E0-4A4D-9766-4393EFFE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4C"/>
          </a:solidFill>
          <a:ln xmlns:a="http://schemas.openxmlformats.org/drawingml/2006/main" w="0">
            <a:solidFill>
              <a:srgbClr val="102C4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4B84E-44F4-414D-8427-01818C34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Pose provider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7E365-C50E-4A4F-9121-8BB779F3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90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CE8F3"/>
                </a:solidFill>
                <a:latin typeface="PingFang SC"/>
                <a:ea typeface="PingFang SC"/>
                <a:cs typeface="PingFang SC"/>
              </a:defRPr>
            </a:pPr>
            <a:r>
              <a:rPr sz="825" b="1" i="0">
                <a:solidFill>
                  <a:srgbClr val="DCE8F3"/>
                </a:solidFill>
                <a:latin typeface="PingFang SC"/>
                <a:ea typeface="PingFang SC"/>
                <a:cs typeface="PingFang SC"/>
              </a:rPr>
              <a:t>7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F3130-2C55-4722-9ED5-E89F596F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两个 pose 的当前用法：先解耦表示优化，再核验 rig 合同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63080-4EE6-43EB-A302-6882AE70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09625"/>
            <a:ext cx="11372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当前首 Gate 的 pose 是冻结观测变量，不是优化目标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D58E4-A245-4B9D-88ED-DD02D08F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52197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BF551-0669-49C5-8261-35C7082C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2247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0F7DD-32B8-4B42-BB69-ABFB51CD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方案 A · 当前首 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E9E82-7A18-44F5-95B5-EB9ABB73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rPr>
              <a:t>C_L = PoseStage1(I_L)</a:t>
            </a:r>
          </a:p>
          <a:p xmlns:a="http://schemas.openxmlformats.org/drawingml/2006/main">
            <a:pPr algn="ctr">
              <a:defRPr sz="1725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rPr>
              <a:t>C_R = PoseStage1(I_R)</a:t>
            </a:r>
          </a:p>
          <a:p xmlns:a="http://schemas.openxmlformats.org/drawingml/2006/main">
            <a:pPr algn="ctr">
              <a:defRPr sz="1725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rPr>
              <a:t>两者都 stop-gradient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FBA26-AFE2-4D63-AF88-CADC903A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7574C-D7FA-4969-BB05-C5C82EE3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优点：不依赖已核验的 physical baseline ↔ canonical scale conversion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5A387-8359-4310-8C04-E6BC843E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1DC33-044F-46F4-A0D5-81603DAB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优点：先测试 object representation 是否能被右目观测纠正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4C8246-D972-4BA1-9938-D1B310A1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C848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C8483D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7CE5CE-DE3B-4EE3-8612-50CFA863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848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C8483D"/>
                </a:solidFill>
                <a:latin typeface="PingFang SC"/>
                <a:ea typeface="PingFang SC"/>
                <a:cs typeface="PingFang SC"/>
              </a:rPr>
              <a:t>风险：C_R 由 target image 预测，可能有 pose/content entanglement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54603C-44AD-46C8-B52C-755913D6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33500"/>
            <a:ext cx="5619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D67B1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897711-6BC8-4769-96F2-CB09D27A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43050"/>
            <a:ext cx="2428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7B16"/>
          </a:solidFill>
          <a:ln xmlns:a="http://schemas.openxmlformats.org/drawingml/2006/main" w="0">
            <a:solidFill>
              <a:srgbClr val="D67B1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F6E3B4-1A89-46FA-8B7E-03FD7B8A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6210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方案 B · 后续 successor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56E39C-5EB8-4EE9-93F6-C33B5D25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4933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rPr>
              <a:t>C_R = T_R&lt;-L · C_L</a:t>
            </a:r>
          </a:p>
          <a:p xmlns:a="http://schemas.openxmlformats.org/drawingml/2006/main">
            <a:pPr algn="ctr">
              <a:defRPr sz="1650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rPr>
              <a:t>只预测一个 C_L，右目 pose 由固定 rig 推导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541C08-D57E-4E59-845E-25EC5B15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67B1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D67B16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685DD-B0FB-4192-B805-5B82A25E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19450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优点：右图不再提供 target-specific pose，几何解释更干净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EF0A1-C249-422A-B6F6-F422571B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28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67B1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D67B16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57CF40-4CB3-44A2-8998-ED07DE22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前置条件：canonical scale、baseline unit、crop 后 K_L/K_R 必须核验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BFD223-3A93-4D5C-957D-E6FBC7B2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862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C848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C8483D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6A04D6-09C3-4A03-91C8-2F9B4B64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86250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848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C8483D"/>
                </a:solidFill>
                <a:latin typeface="PingFang SC"/>
                <a:ea typeface="PingFang SC"/>
                <a:cs typeface="PingFang SC"/>
              </a:rPr>
              <a:t>若 A 与 B 结论不同，不能把收益直接归因于 representation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6AD32E-E8C7-426F-8CDE-0BFA6AD2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1127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2C4C"/>
          </a:solidFill>
          <a:ln xmlns:a="http://schemas.openxmlformats.org/drawingml/2006/main" w="0">
            <a:solidFill>
              <a:srgbClr val="102C4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1E56C9-8ED4-4260-95E1-4240B00D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当前建议：A 用于首个 mechanism gate；B 作为必须的 successor confirmation；A 不能宣称 metric-scale 学习。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F95480-A695-4ECD-8FB7-7A8E9851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solidFill>
              <a:srgbClr val="CCD7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609237-2077-48DD-9FC4-F26DCFE5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5913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pose provider 是当前主要风险点；首 Gate 不把 pose error 当科学主目标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9A360B-A092-4F69-ACF7-B6456E0E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805059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E3C48A-86CA-4810-B51F-BD92A6DA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4C"/>
          </a:solidFill>
          <a:ln xmlns:a="http://schemas.openxmlformats.org/drawingml/2006/main" w="0">
            <a:solidFill>
              <a:srgbClr val="102C4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BB17D-68E1-41FD-B19A-6121DD3E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Loss / gradient ownership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DA65C-3CA5-42F5-90A1-D9251E9D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90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CE8F3"/>
                </a:solidFill>
                <a:latin typeface="PingFang SC"/>
                <a:ea typeface="PingFang SC"/>
                <a:cs typeface="PingFang SC"/>
              </a:defRPr>
            </a:pPr>
            <a:r>
              <a:rPr sz="825" b="1" i="0">
                <a:solidFill>
                  <a:srgbClr val="DCE8F3"/>
                </a:solidFill>
                <a:latin typeface="PingFang SC"/>
                <a:ea typeface="PingFang SC"/>
                <a:cs typeface="PingFang SC"/>
              </a:rPr>
              <a:t>8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C3D7E-4715-42CA-A74A-2FCBF56E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Loss 和梯度：右目像素误差最终只回到 Stage 2 student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3896F-3B80-495A-8201-665ECE48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09625"/>
            <a:ext cx="11372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render 是可微 consumer，但 decoder、renderer、pose 都不更新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5C327-9C24-482A-BA20-73BB2182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4476750" cy="4524375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3E992-D24F-48DD-97A7-246DFB83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rPr>
              <a:t>建议的总目标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83F4E-109F-4DD6-96E3-2223F647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L_total = L_anchor + λ_stereo · L_stereo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C1C471-FB60-415B-A1B5-22273FA5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377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L_stereo = L1(I_R_hat, I_R)</a:t>
            </a:r>
          </a:p>
          <a:p xmlns:a="http://schemas.openxmlformats.org/drawingml/2006/main">
            <a:pPr algn="ctr">
              <a:defRPr sz="14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          + λ_p · LPIPS(I_R_hat, I_R)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17BBF5-06C1-456F-9811-A1B9A2EA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L_anchor 只保持 teacher latent / flow parameterization 的稳定性；</a:t>
            </a:r>
          </a:p>
          <a:p xmlns:a="http://schemas.openxmlformats.org/drawingml/2006/main">
            <a:pPr algn="ctr">
              <a:defRPr sz="1200" b="0" i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真正新增的科学变量是 λ_stereo &gt; 0。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421E4-4B20-425B-8EDB-232A6D0E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3048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AA010-4735-439F-B392-1F989970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2895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67B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67B16"/>
                </a:solidFill>
                <a:latin typeface="PingFang SC"/>
                <a:ea typeface="PingFang SC"/>
                <a:cs typeface="PingFang SC"/>
              </a:rPr>
              <a:t>matched control: λ_stereo =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8760E-D523-4566-8F5C-6AA6B872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276350"/>
            <a:ext cx="640080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00F096-8A90-4A2E-A36F-E1CF54AF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24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允许的反向路径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6A3C5-D1CE-49D7-9227-45FF8940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19350"/>
            <a:ext cx="904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346821-1DD6-407D-BA35-ABFCBCE3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505075"/>
            <a:ext cx="790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L_stereo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F64BA2-C1F0-46C9-84BC-DF2E615C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717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E3B047-482D-45AA-9A04-E29DFA33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19350"/>
            <a:ext cx="1000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B15AA-D63B-41AF-88E4-F86516FD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05075"/>
            <a:ext cx="885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I_R_hat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650B55-8C2D-4051-8A6A-204B618E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934FC0-8157-43EC-8261-6A78BE40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419350"/>
            <a:ext cx="1190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5A4E8A-9A1E-4AF7-9CD6-D34A6AB3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05075"/>
            <a:ext cx="1076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Frozen GS render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DFFCEE-949B-4601-B399-D95EDEC9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717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13493D-B3F3-4D40-AEC0-2F691F52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19350"/>
            <a:ext cx="1000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9F3EA"/>
          </a:solidFill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B58445-221A-46D0-83B0-5C8FFC14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05075"/>
            <a:ext cx="885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z_student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295842-6BA1-4EAE-9130-3C78E6C2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717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844E04-75E9-49C9-BCFB-EE4D1469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419350"/>
            <a:ext cx="1285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9F3EA"/>
          </a:solidFill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C4E5DB-6D9D-45C4-AD34-1B129FB1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505075"/>
            <a:ext cx="1171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Stage 2 student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292B31-A9D1-4EEB-B2F1-C057A6A3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76600"/>
            <a:ext cx="542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↑ forward: latent → decoder → renderer → prediction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353B6F-D0B3-4A0C-A06B-D77BBFCB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76650"/>
            <a:ext cx="542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← backward: observation gradient stops here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BB393E-F4E9-4DAE-A66A-7E58BC6F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05300"/>
            <a:ext cx="5715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19050">
            <a:solidFill>
              <a:srgbClr val="C8483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66078E-F439-4F34-B1E4-E2D3314E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38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848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C8483D"/>
                </a:solidFill>
                <a:latin typeface="PingFang SC"/>
                <a:ea typeface="PingFang SC"/>
                <a:cs typeface="PingFang SC"/>
              </a:rPr>
              <a:t>禁止梯度终点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B04B6D-B75B-4A77-820E-488BD1E6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196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848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C8483D"/>
                </a:solidFill>
                <a:latin typeface="PingFang SC"/>
                <a:ea typeface="PingFang SC"/>
                <a:cs typeface="PingFang SC"/>
              </a:rPr>
              <a:t>Stage 1 · pose solver · DINOv2 · GS decoder · renderer · camera metadata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F40386-BDD7-4D5B-9EAC-45C37634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solidFill>
              <a:srgbClr val="CCD7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108084-7582-4E17-939E-D1C55E42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5913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梯度 ownership 是科学归因合同，不是实现细节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C39685-B271-4DF6-95BD-17D02C51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947684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90D0D9-48FF-4FF6-99A8-71851992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4C"/>
          </a:solidFill>
          <a:ln xmlns:a="http://schemas.openxmlformats.org/drawingml/2006/main" w="0">
            <a:solidFill>
              <a:srgbClr val="102C4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4960B-BAF4-4550-845B-D5B8AD6A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Representation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40451-E254-4C2A-AFC7-C5B23756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90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CE8F3"/>
                </a:solidFill>
                <a:latin typeface="PingFang SC"/>
                <a:ea typeface="PingFang SC"/>
                <a:cs typeface="PingFang SC"/>
              </a:defRPr>
            </a:pPr>
            <a:r>
              <a:rPr sz="825" b="1" i="0">
                <a:solidFill>
                  <a:srgbClr val="DCE8F3"/>
                </a:solidFill>
                <a:latin typeface="PingFang SC"/>
                <a:ea typeface="PingFang SC"/>
                <a:cs typeface="PingFang SC"/>
              </a:rPr>
              <a:t>9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2ACAC-155A-42A4-ACF5-8EEEF939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为什么可能改善 representation：约束跨视角可解释性，而不是单项像素分数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49E2A-2D45-4D8C-8B9A-44F99F99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09625"/>
            <a:ext cx="11372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只有 target-view reconstruction + representation probes 同时通过，才能提出表示改善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B39A7-2A4B-40FF-BDD7-43F02D16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ED961-C898-44E8-910A-0CE9C6E5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机制假设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DD159-9CED-4791-9449-20229044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11277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06C37-6835-4F9A-8EA0-CD027FD3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10629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rPr>
              <a:t>同一个 z_student 在新相机 C_R 下仍能解释 I_R，迫使 latent 少依赖单目 view-specific shortcut。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6CF94-550A-47C8-9D9C-D0A7F9F4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3048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F78A6"/>
          </a:solidFill>
          <a:ln xmlns:a="http://schemas.openxmlformats.org/drawingml/2006/main" w="0">
            <a:solidFill>
              <a:srgbClr val="3F78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1C2AC-C10E-469C-9B16-BC1F4686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7182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Cross-view persistence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DDD39-F932-4564-9751-0121F07B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62300"/>
            <a:ext cx="708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同一对象从 I_L / I_R 推断后，canonical structure / geometry 更一致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8411F-E03A-4C39-B08C-B1E18444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3048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6AFE8-B679-4B38-8F1F-64E9A8BC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Ambiguity reduction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27AD9-B3BC-47D1-A30B-D20600E3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86200"/>
            <a:ext cx="708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右目观测排除只适配左图的错误 3D mode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18FFA-26F8-4CC6-B7BE-E893B30E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3048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67B16"/>
          </a:solidFill>
          <a:ln xmlns:a="http://schemas.openxmlformats.org/drawingml/2006/main" w="0">
            <a:solidFill>
              <a:srgbClr val="D67B1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7555C-3367-49A5-A9B3-213C0272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962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Pose / content separation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72CC3E-42B0-42F7-84C7-757E4A54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10100"/>
            <a:ext cx="708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pose 作为相机变量，不能靠 content 记忆补偿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BA4874-77BF-4BE4-BD82-807A655A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1277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D67B1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045474-6D05-4DB4-AEA7-756C403E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67B1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D67B16"/>
                </a:solidFill>
                <a:latin typeface="PingFang SC"/>
                <a:ea typeface="PingFang SC"/>
                <a:cs typeface="PingFang SC"/>
              </a:rPr>
              <a:t>不自动证明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160379-F25C-47A7-8E25-F77E6E99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483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低训练右图 loss ≠ 表示整体更好；必须补充 held-out camera LPIPS、cross-view persistence、cross-decoder transfer 和 distribution guard。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8CFC98-EE6D-4C98-9CE6-27AC0104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solidFill>
              <a:srgbClr val="CCD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23ABCD-E732-49FF-8209-F49A581E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5913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论文 claim 的最小证据门：mechanism pass + representation pass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A53488-B4AE-47B1-8A43-FC758495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72433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649D90-3F3E-4266-8693-BE0D2FDE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4C"/>
          </a:solidFill>
          <a:ln xmlns:a="http://schemas.openxmlformats.org/drawingml/2006/main" w="0">
            <a:solidFill>
              <a:srgbClr val="102C4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C6BDC-6DFA-4820-AE5D-DC1CD740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Decision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B76C2-961B-4143-80FE-BBF3B796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90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CE8F3"/>
                </a:solidFill>
                <a:latin typeface="PingFang SC"/>
                <a:ea typeface="PingFang SC"/>
                <a:cs typeface="PingFang SC"/>
              </a:defRPr>
            </a:pPr>
            <a:r>
              <a:rPr sz="825" b="1" i="0">
                <a:solidFill>
                  <a:srgbClr val="DCE8F3"/>
                </a:solidFill>
                <a:latin typeface="PingFang SC"/>
                <a:ea typeface="PingFang SC"/>
                <a:cs typeface="PingFang SC"/>
              </a:rPr>
              <a:t>10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9C3FB-D54E-43EB-B3A1-57B1A662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Step 3 审核清单：回答 5 个问题后才进入 Step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A1468-D7D7-4BDC-8379-99633E4D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09625"/>
            <a:ext cx="11372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目前图和 PPT 都是设计候选；未实现、未训练、未产生结果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897F6-4F6D-429B-B751-80921056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72771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CD7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183F5-4971-4151-A5B8-FC89C53E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0B6D1-D650-4394-AC0D-1B980DFD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97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ECD64-C4D8-4982-995C-44AF4D86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52575"/>
            <a:ext cx="601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是否同意 Stage 2 z_slat distribution 作为首个 stereo SSL 接入点？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0A7FF-BA73-42EF-BFBE-1C39DA17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CD7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46636-2A94-4E6A-B263-EC7FAA03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907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734D7-3D8E-4859-8486-0F84BD8F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33625"/>
            <a:ext cx="601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是否同意 teacher pseudo latent + trainable student + frozen GS measurement interface？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82C93-AE00-4018-BDCC-F9E60ECA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CD7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1B03F1-B800-4158-8AE5-0DE5ED58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83DC7-1E51-4E7A-A996-242EA553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14675"/>
            <a:ext cx="601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是否接受首 Gate 用两个冻结 predicted poses，随后用 rig-derived pose 做 successor confirmation？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7C715-9EE5-4402-B175-7AE8ECBF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CD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75864B-3E7D-46E6-AA7A-AF772F6E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F5C89-7D26-4AA2-8478-169DE0B7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95725"/>
            <a:ext cx="601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是否先做 G1-LR，再做 matched G1-RL，最后才组合 symmetric mutual supervision？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F4874C-6F3A-45C9-8F25-6EDF0EB6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CD7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154941-81DC-4204-BB5D-ECB2E21D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EE5FF7-21BB-41F6-85FF-07349F62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76775"/>
            <a:ext cx="601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7263A"/>
                </a:solidFill>
                <a:latin typeface="PingFang SC"/>
                <a:ea typeface="PingFang SC"/>
                <a:cs typeface="PingFang SC"/>
              </a:rPr>
              <a:t>是否同意 held-out camera LPIPS 为 primary，cross-view persistence 为必须 guard？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4F900B-E128-416F-BCDA-7F73F9F4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257300"/>
            <a:ext cx="3581400" cy="47625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2356FC-9FCC-4DC7-9CA7-BAB34145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43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当前状态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34C12E-E973-4B37-ABE6-ECDDA9B8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5265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0">
            <a:solidFill>
              <a:srgbClr val="EAF6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D3332A-55D2-435C-8A17-D790B9D0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71700"/>
            <a:ext cx="2038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318B5E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318B5E"/>
                </a:solidFill>
                <a:latin typeface="PingFang SC"/>
                <a:ea typeface="PingFang SC"/>
                <a:cs typeface="PingFang SC"/>
              </a:rPr>
              <a:t>图已画出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685828-D595-4C8C-BE38-AF8EBD61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0">
            <a:solidFill>
              <a:srgbClr val="EAF6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F90425-7E6C-4CEE-9870-03757CE1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43200"/>
            <a:ext cx="2038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318B5E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318B5E"/>
                </a:solidFill>
                <a:latin typeface="PingFang SC"/>
                <a:ea typeface="PingFang SC"/>
                <a:cs typeface="PingFang SC"/>
              </a:rPr>
              <a:t>输入输出已对齐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F49B59-4300-4E16-9BBA-788F03E7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9565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BFC135-57E7-4B7B-80DA-93DFD881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14700"/>
            <a:ext cx="2038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67B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67B16"/>
                </a:solidFill>
                <a:latin typeface="PingFang SC"/>
                <a:ea typeface="PingFang SC"/>
                <a:cs typeface="PingFang SC"/>
              </a:rPr>
              <a:t>接入点仍待批准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8FF321-AC4E-459A-82B6-083A2681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6715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F55480-EEDF-4A37-97A5-4471F650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86200"/>
            <a:ext cx="2038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67B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67B16"/>
                </a:solidFill>
                <a:latin typeface="PingFang SC"/>
                <a:ea typeface="PingFang SC"/>
                <a:cs typeface="PingFang SC"/>
              </a:rPr>
              <a:t>未实现 / 未训练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3E2A2D-3137-4E21-9984-411B561F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3865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0">
            <a:solidFill>
              <a:srgbClr val="FDED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77BA71-D5CA-4FCF-B4C8-C188D76E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57700"/>
            <a:ext cx="2038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C8483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C8483D"/>
                </a:solidFill>
                <a:latin typeface="PingFang SC"/>
                <a:ea typeface="PingFang SC"/>
                <a:cs typeface="PingFang SC"/>
              </a:rPr>
              <a:t>Step 4 暂停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C40323-1D46-40A5-91DC-6F21828E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24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rPr>
              <a:t>你审核后，我只按批准版本继续：</a:t>
            </a:r>
          </a:p>
          <a:p xmlns:a="http://schemas.openxmlformats.org/drawingml/2006/main">
            <a:pPr algn="ctr">
              <a:defRPr sz="1200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02C4C"/>
                </a:solidFill>
                <a:latin typeface="PingFang SC"/>
                <a:ea typeface="PingFang SC"/>
                <a:cs typeface="PingFang SC"/>
              </a:rPr>
              <a:t>最终 draw.io 母图 → implementation spec → experiment gate。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BED7F6-2161-45C6-91C2-AFEB68D5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solidFill>
              <a:srgbClr val="CCD7E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ECBB6B-3BB3-4FA0-9A76-77286151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5913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请先审核图和边界；本轮不进入代码实现或远程训练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85A7BD-66F7-41E5-AF44-BDAF63D7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5E6C7C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91087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2026-09-09T15:52:49.8110000Z</dcterms:created>
  <dcterms:modified xsi:type="dcterms:W3CDTF">2026-09-09T15:52:49.8110000Z</dcterms:modified>
</coreProperties>
</file>